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3840480" cy="36576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BFD3E5"/>
                </a:solidFill>
                <a:latin typeface="Microsoft YaHei"/>
              </a:rPr>
              <a:t>股票投资入门 · 教育课件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61872"/>
            <a:ext cx="8138160" cy="11430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Microsoft YaHei"/>
              </a:rPr>
              <a:t>炒股初学者入门课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50592"/>
            <a:ext cx="8046720" cy="4572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200" b="0">
                <a:solidFill>
                  <a:srgbClr val="D8E5EF"/>
                </a:solidFill>
                <a:latin typeface="Microsoft YaHei"/>
              </a:rPr>
              <a:t>从交易规则到K线、均线、风控与复盘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279392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20364B"/>
          </a:solidFill>
          <a:ln w="8890"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480560"/>
            <a:ext cx="466344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Microsoft YaHei"/>
              </a:rPr>
              <a:t>适合零基础、刚开户、想建立正确交易框架的新手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960120"/>
            <a:ext cx="3977639" cy="452628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8890">
            <a:solidFill>
              <a:srgbClr val="DB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188720"/>
            <a:ext cx="3291840" cy="2743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Market Basics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828800"/>
            <a:ext cx="5943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02D3B"/>
                </a:solidFill>
                <a:latin typeface="Microsoft YaHei"/>
              </a:rPr>
              <a:t>A股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828800"/>
            <a:ext cx="640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DC4455"/>
                </a:solidFill>
                <a:latin typeface="Microsoft YaHei"/>
              </a:rPr>
              <a:t>+1.2%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9326880" y="2139696"/>
            <a:ext cx="228600" cy="43891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55480" y="2139696"/>
            <a:ext cx="228600" cy="21945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784080" y="2095804"/>
            <a:ext cx="228600" cy="65837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012680" y="2062886"/>
            <a:ext cx="228600" cy="32918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0241280" y="2018995"/>
            <a:ext cx="228600" cy="43891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469880" y="2018995"/>
            <a:ext cx="228600" cy="21945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818120" y="2788920"/>
            <a:ext cx="5943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02D3B"/>
                </a:solidFill>
                <a:latin typeface="Microsoft YaHei"/>
              </a:rPr>
              <a:t>港股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788920"/>
            <a:ext cx="640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17A676"/>
                </a:solidFill>
                <a:latin typeface="Microsoft YaHei"/>
              </a:rPr>
              <a:t>-0.4%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26880" y="2990088"/>
            <a:ext cx="228600" cy="21945"/>
          </a:xfrm>
          <a:prstGeom prst="line">
            <a:avLst/>
          </a:prstGeom>
          <a:ln w="2540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555480" y="3012033"/>
            <a:ext cx="228600" cy="10973"/>
          </a:xfrm>
          <a:prstGeom prst="line">
            <a:avLst/>
          </a:prstGeom>
          <a:ln w="2540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784080" y="3001060"/>
            <a:ext cx="228600" cy="21946"/>
          </a:xfrm>
          <a:prstGeom prst="line">
            <a:avLst/>
          </a:prstGeom>
          <a:ln w="2540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012680" y="3001060"/>
            <a:ext cx="228600" cy="43892"/>
          </a:xfrm>
          <a:prstGeom prst="line">
            <a:avLst/>
          </a:prstGeom>
          <a:ln w="2540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241280" y="3044952"/>
            <a:ext cx="228600" cy="21945"/>
          </a:xfrm>
          <a:prstGeom prst="line">
            <a:avLst/>
          </a:prstGeom>
          <a:ln w="2540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469880" y="3055924"/>
            <a:ext cx="228600" cy="10973"/>
          </a:xfrm>
          <a:prstGeom prst="line">
            <a:avLst/>
          </a:prstGeom>
          <a:ln w="2540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818120" y="3749039"/>
            <a:ext cx="5943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02D3B"/>
                </a:solidFill>
                <a:latin typeface="Microsoft YaHei"/>
              </a:rPr>
              <a:t>美股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749039"/>
            <a:ext cx="640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DC4455"/>
                </a:solidFill>
                <a:latin typeface="Microsoft YaHei"/>
              </a:rPr>
              <a:t>+0.8%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9326880" y="4037990"/>
            <a:ext cx="228600" cy="10973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555480" y="3994099"/>
            <a:ext cx="228600" cy="43891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784080" y="3994099"/>
            <a:ext cx="228600" cy="10972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0012680" y="3972153"/>
            <a:ext cx="228600" cy="32918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0241280" y="3950207"/>
            <a:ext cx="228600" cy="21946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0469880" y="3917289"/>
            <a:ext cx="228600" cy="32918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资料口径截至 2026-06-12；本课件仅用于投资者教育，不构成投资建议。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987552"/>
            <a:ext cx="7772400" cy="59436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这套课要解决什么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64208"/>
            <a:ext cx="877824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D4E2EF"/>
                </a:solidFill>
                <a:latin typeface="Microsoft YaHei"/>
              </a:rPr>
              <a:t>先把市场规则、图表语言和风控框架搭起来。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2816352"/>
            <a:ext cx="146304" cy="146304"/>
          </a:xfrm>
          <a:prstGeom prst="ellipse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743200"/>
            <a:ext cx="81381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看懂 A股、港股、美股的基础交易规则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3474720"/>
            <a:ext cx="146304" cy="146304"/>
          </a:xfrm>
          <a:prstGeom prst="ellipse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401568"/>
            <a:ext cx="81381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能解释一根 K 线、趋势、均线和成交量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4133087"/>
            <a:ext cx="146304" cy="146304"/>
          </a:xfrm>
          <a:prstGeom prst="ellipse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059935"/>
            <a:ext cx="81381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知道技术指标的作用与局限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4791456"/>
            <a:ext cx="146304" cy="146304"/>
          </a:xfrm>
          <a:prstGeom prst="ellipse">
            <a:avLst/>
          </a:prstGeom>
          <a:solidFill>
            <a:srgbClr val="4F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718304"/>
            <a:ext cx="81381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建立买入前计划、仓位控制和复盘习惯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987552"/>
            <a:ext cx="7772400" cy="59436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64208"/>
            <a:ext cx="877824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D4E2EF"/>
                </a:solidFill>
                <a:latin typeface="Microsoft YaHei"/>
              </a:rPr>
              <a:t>建议用 60-90 分钟讲完，最后留 15 分钟做图表练习。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2816352"/>
            <a:ext cx="146304" cy="146304"/>
          </a:xfrm>
          <a:prstGeom prst="ellipse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743200"/>
            <a:ext cx="81381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第一部分：股票和交易规则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3474720"/>
            <a:ext cx="146304" cy="146304"/>
          </a:xfrm>
          <a:prstGeom prst="ellipse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401568"/>
            <a:ext cx="81381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第二部分：A股、港股、美股对比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4133087"/>
            <a:ext cx="146304" cy="146304"/>
          </a:xfrm>
          <a:prstGeom prst="ellipse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059935"/>
            <a:ext cx="81381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第三部分：K线、均线、成交量和指标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4791456"/>
            <a:ext cx="146304" cy="146304"/>
          </a:xfrm>
          <a:prstGeom prst="ellipse">
            <a:avLst/>
          </a:prstGeom>
          <a:solidFill>
            <a:srgbClr val="4F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718304"/>
            <a:ext cx="81381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第四部分：交易计划、风险控制和复盘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股票到底是什么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股票基础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讲师提示：先让新手从“赌涨跌”切换到“理解资产和风险”。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股票代表对一家公司的部分所有权，价格由买卖双方在市场中形成。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股价上涨不等于公司一定变好，下跌也不等于公司一定变坏。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新手先区分：公司价值、市场情绪、资金流动、交易规则。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四个关键词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所有权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价格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风险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规则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开户后你能做什么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股票基础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讲师提示：不要假设开户等于会交易，账户权限和市场入口是第一层门槛。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证券账户用于持有股票，资金账户用于买卖结算。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A股、港股、美股通常需要不同权限或通道，费用和币种也不同。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可操作的不止买卖股票，还包括申购、分红到账、查询公告等。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账户动作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入金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委托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成交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持仓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8" y="4965192"/>
            <a:ext cx="566928" cy="329184"/>
          </a:xfrm>
          <a:prstGeom prst="roundRect">
            <a:avLst/>
          </a:prstGeom>
          <a:solidFill>
            <a:srgbClr val="4F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73568" y="5010912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4956048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交收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一次买卖的完整流程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股票基础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讲师提示：把流程讲清楚，新手才知道自己每一步在做什么。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下单前：选择市场、代码、方向、价格、数量、订单类型。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交易中：委托进入交易系统，符合价格优先和时间优先原则后成交。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成交后：账户出现持仓和可用资金变化，但交收通常不是立即完成。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流程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下单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撮合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成交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清算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8" y="4965192"/>
            <a:ext cx="566928" cy="329184"/>
          </a:xfrm>
          <a:prstGeom prst="roundRect">
            <a:avLst/>
          </a:prstGeom>
          <a:solidFill>
            <a:srgbClr val="4F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73568" y="5010912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4956048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交收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订单类型：市价与限价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股票基础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讲师提示：市价单不是“更高级”，只是不同的取舍。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限价单：指定可接受价格，优点是价格可控，缺点是可能不成交。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市价单：优先成交，价格不完全可控，在波动大或流动性差时风险更高。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新手更适合从限价单开始，先控制成交价格。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选择逻辑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要价格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用限价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要速度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看流动性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交易费用与真实收益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股票基础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讲师提示：费用是新手最容易忽略、但最稳定发生的成本。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股票交易通常涉及佣金、印花税、交易规费、平台费或换汇成本。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频繁交易会让小幅盈利被费用吞掉，尤其对短线新手影响明显。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跨市场投资还要考虑汇率波动和换汇差价。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成本来源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佣金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税费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平台费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汇率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交易日、休市与公告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股票基础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讲师提示：休市和公告经常让新手误判“为什么不能交易”。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不同市场节假日不同，A股、港股、美股不一定同一天开市。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财报、分红、停牌、重大公告会影响交易和价格波动。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新手不应在不了解公告的情况下追涨杀跌。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检查清单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交易日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停牌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财报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分红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8" y="4965192"/>
            <a:ext cx="566928" cy="329184"/>
          </a:xfrm>
          <a:prstGeom prst="roundRect">
            <a:avLst/>
          </a:prstGeom>
          <a:solidFill>
            <a:srgbClr val="4F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73568" y="5010912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4956048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假期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交收：成交不等于所有事情完成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股票基础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讲师提示：用 T 日概念先打底，后面三地规则更容易讲。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成交是买卖匹配成功，交收是证券和资金最终完成划转。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A股、美股、港股的交收周期和可卖规则不同。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T+1、T+2 中的 T 指交易日，不是自然日。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概念区分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成交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可用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可取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交收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三地股票市场规则总览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交易规则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讲师提示：这页只讲常见股票规则，具体品种、账户权限和券商规则以最新公告为准。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1207008"/>
          <a:ext cx="1097280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965960"/>
                <a:gridCol w="1554480"/>
                <a:gridCol w="1965960"/>
                <a:gridCol w="1828800"/>
                <a:gridCol w="2468880"/>
              </a:tblGrid>
              <a:tr h="124587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市场</a:t>
                      </a:r>
                    </a:p>
                  </a:txBody>
                  <a:tcPr>
                    <a:solidFill>
                      <a:srgbClr val="2B4B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交易时段</a:t>
                      </a:r>
                    </a:p>
                  </a:txBody>
                  <a:tcPr>
                    <a:solidFill>
                      <a:srgbClr val="2B4B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交收</a:t>
                      </a:r>
                    </a:p>
                  </a:txBody>
                  <a:tcPr>
                    <a:solidFill>
                      <a:srgbClr val="2B4B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交易单位</a:t>
                      </a:r>
                    </a:p>
                  </a:txBody>
                  <a:tcPr>
                    <a:solidFill>
                      <a:srgbClr val="2B4B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涨跌幅/波动控制</a:t>
                      </a:r>
                    </a:p>
                  </a:txBody>
                  <a:tcPr>
                    <a:solidFill>
                      <a:srgbClr val="2B4B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新手关注点</a:t>
                      </a:r>
                    </a:p>
                  </a:txBody>
                  <a:tcPr>
                    <a:solidFill>
                      <a:srgbClr val="2B4B66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A股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常见为 9:15-9:25 集合竞价；9:30-11:30、13:00-15:00 连续竞价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股票通常 T+1 可卖；资金可用/可取规则需看券商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主板通常 100 股一手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主板常见 10%；科创板/创业板常见 20%；新股阶段另有规则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规则细、板块差异多，先确认代码所属板块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港股</a:t>
                      </a:r>
                    </a:p>
                  </a:txBody>
                  <a:tcPr marL="45720" marR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开市前、早市、午市及收市竞价；遇假期/恶劣天气有安排</a:t>
                      </a:r>
                    </a:p>
                  </a:txBody>
                  <a:tcPr marL="45720" marR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通常 T+2</a:t>
                      </a:r>
                    </a:p>
                  </a:txBody>
                  <a:tcPr marL="45720" marR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每只股票一手股数可能不同</a:t>
                      </a:r>
                    </a:p>
                  </a:txBody>
                  <a:tcPr marL="45720" marR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无普通日涨跌停；设有市场波动调节机制 VCM</a:t>
                      </a:r>
                    </a:p>
                  </a:txBody>
                  <a:tcPr marL="45720" marR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注意港币、每手股数、流动性和费用</a:t>
                      </a:r>
                    </a:p>
                  </a:txBody>
                  <a:tcPr marL="45720" marR="45720">
                    <a:solidFill>
                      <a:srgbClr val="EEF4F8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美股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核心交易时段通常为美东 9:30-16:00；另有盘前盘后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多数证券自 2024-05-28 起 T+1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通常 1 股起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无普通日涨跌停；有市场熔断与个股波动暂停机制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注意美元、时差、盘前盘后流动性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8368" y="6144768"/>
            <a:ext cx="107899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850" b="0">
                <a:solidFill>
                  <a:srgbClr val="C5D2DF"/>
                </a:solidFill>
                <a:latin typeface="Microsoft YaHei"/>
              </a:rPr>
              <a:t>资料参考：交易所/SEC/HKEX/NYSE 官方规则与公告，口径截至 2026-06-12。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真实股票案例池：用来练规则和图表，不用来荐股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案例图解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讲师提示：这些股票只作为教学样本；小走势图为教学示意，非真实历史价格。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078992"/>
            <a:ext cx="11201400" cy="5193792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1353312"/>
            <a:ext cx="3364992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1353312"/>
            <a:ext cx="146304" cy="1261872"/>
          </a:xfrm>
          <a:prstGeom prst="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5" y="1499616"/>
            <a:ext cx="16916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02D3B"/>
                </a:solidFill>
                <a:latin typeface="Microsoft YaHei"/>
              </a:rPr>
              <a:t>贵州茅台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1517904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606F7E"/>
                </a:solidFill>
                <a:latin typeface="Microsoft YaHei"/>
              </a:rPr>
              <a:t>600519.SH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5" y="1810512"/>
            <a:ext cx="12344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DC4455"/>
                </a:solidFill>
                <a:latin typeface="Microsoft YaHei"/>
              </a:rPr>
              <a:t>A股 · 消费龙头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5" y="2112264"/>
            <a:ext cx="13716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06F7E"/>
                </a:solidFill>
                <a:latin typeface="Microsoft YaHei"/>
              </a:rPr>
              <a:t>高价股 / 品牌/利润率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624327" y="2297529"/>
            <a:ext cx="154142" cy="34191"/>
          </a:xfrm>
          <a:prstGeom prst="line">
            <a:avLst/>
          </a:prstGeom>
          <a:ln w="2667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778469" y="2229148"/>
            <a:ext cx="154142" cy="68381"/>
          </a:xfrm>
          <a:prstGeom prst="line">
            <a:avLst/>
          </a:prstGeom>
          <a:ln w="2667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932611" y="2092385"/>
            <a:ext cx="154142" cy="136763"/>
          </a:xfrm>
          <a:prstGeom prst="line">
            <a:avLst/>
          </a:prstGeom>
          <a:ln w="2667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086753" y="2024004"/>
            <a:ext cx="154141" cy="68381"/>
          </a:xfrm>
          <a:prstGeom prst="line">
            <a:avLst/>
          </a:prstGeom>
          <a:ln w="2667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40894" y="2024004"/>
            <a:ext cx="154142" cy="34191"/>
          </a:xfrm>
          <a:prstGeom prst="line">
            <a:avLst/>
          </a:prstGeom>
          <a:ln w="2667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395036" y="1938528"/>
            <a:ext cx="154142" cy="119667"/>
          </a:xfrm>
          <a:prstGeom prst="line">
            <a:avLst/>
          </a:prstGeom>
          <a:ln w="2667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549178" y="1938528"/>
            <a:ext cx="154142" cy="51285"/>
          </a:xfrm>
          <a:prstGeom prst="line">
            <a:avLst/>
          </a:prstGeom>
          <a:ln w="2667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407408" y="1353312"/>
            <a:ext cx="3364992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1353312"/>
            <a:ext cx="146304" cy="1261872"/>
          </a:xfrm>
          <a:prstGeom prst="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0016" y="1499616"/>
            <a:ext cx="16916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02D3B"/>
                </a:solidFill>
                <a:latin typeface="Microsoft YaHei"/>
              </a:rPr>
              <a:t>宁德时代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1517904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606F7E"/>
                </a:solidFill>
                <a:latin typeface="Microsoft YaHei"/>
              </a:rPr>
              <a:t>300750.SZ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0016" y="1810512"/>
            <a:ext cx="12344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7A676"/>
                </a:solidFill>
                <a:latin typeface="Microsoft YaHei"/>
              </a:rPr>
              <a:t>A股 · 新能源成长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2112264"/>
            <a:ext cx="13716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06F7E"/>
                </a:solidFill>
                <a:latin typeface="Microsoft YaHei"/>
              </a:rPr>
              <a:t>成长股 / 产业景气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6281928" y="2236811"/>
            <a:ext cx="154141" cy="94909"/>
          </a:xfrm>
          <a:prstGeom prst="line">
            <a:avLst/>
          </a:prstGeom>
          <a:ln w="2667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436069" y="2114786"/>
            <a:ext cx="154142" cy="122025"/>
          </a:xfrm>
          <a:prstGeom prst="line">
            <a:avLst/>
          </a:prstGeom>
          <a:ln w="2667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590211" y="1938528"/>
            <a:ext cx="154142" cy="176258"/>
          </a:xfrm>
          <a:prstGeom prst="line">
            <a:avLst/>
          </a:prstGeom>
          <a:ln w="2667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44353" y="1938528"/>
            <a:ext cx="154141" cy="94908"/>
          </a:xfrm>
          <a:prstGeom prst="line">
            <a:avLst/>
          </a:prstGeom>
          <a:ln w="2667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898494" y="2033436"/>
            <a:ext cx="154142" cy="108467"/>
          </a:xfrm>
          <a:prstGeom prst="line">
            <a:avLst/>
          </a:prstGeom>
          <a:ln w="2667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052636" y="2087669"/>
            <a:ext cx="154142" cy="54234"/>
          </a:xfrm>
          <a:prstGeom prst="line">
            <a:avLst/>
          </a:prstGeom>
          <a:ln w="2667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206778" y="2087669"/>
            <a:ext cx="154142" cy="67792"/>
          </a:xfrm>
          <a:prstGeom prst="line">
            <a:avLst/>
          </a:prstGeom>
          <a:ln w="2667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065008" y="1353312"/>
            <a:ext cx="3364992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65008" y="1353312"/>
            <a:ext cx="146304" cy="1261872"/>
          </a:xfrm>
          <a:prstGeom prst="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57616" y="1499616"/>
            <a:ext cx="16916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02D3B"/>
                </a:solidFill>
                <a:latin typeface="Microsoft YaHei"/>
              </a:rPr>
              <a:t>工商银行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1517904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606F7E"/>
                </a:solidFill>
                <a:latin typeface="Microsoft YaHei"/>
              </a:rPr>
              <a:t>601398.SH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57616" y="1810512"/>
            <a:ext cx="12344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468ED6"/>
                </a:solidFill>
                <a:latin typeface="Microsoft YaHei"/>
              </a:rPr>
              <a:t>A股 · 大型银行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7616" y="2112264"/>
            <a:ext cx="13716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06F7E"/>
                </a:solidFill>
                <a:latin typeface="Microsoft YaHei"/>
              </a:rPr>
              <a:t>低波动 / 分红/估值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939528" y="2288032"/>
            <a:ext cx="154141" cy="43688"/>
          </a:xfrm>
          <a:prstGeom prst="line">
            <a:avLst/>
          </a:prstGeom>
          <a:ln w="2667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093669" y="2200656"/>
            <a:ext cx="154142" cy="131064"/>
          </a:xfrm>
          <a:prstGeom prst="line">
            <a:avLst/>
          </a:prstGeom>
          <a:ln w="2667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247811" y="2200656"/>
            <a:ext cx="154142" cy="43688"/>
          </a:xfrm>
          <a:prstGeom prst="line">
            <a:avLst/>
          </a:prstGeom>
          <a:ln w="2667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0401953" y="2130755"/>
            <a:ext cx="154141" cy="113589"/>
          </a:xfrm>
          <a:prstGeom prst="line">
            <a:avLst/>
          </a:prstGeom>
          <a:ln w="2667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0556094" y="2025904"/>
            <a:ext cx="154142" cy="104851"/>
          </a:xfrm>
          <a:prstGeom prst="line">
            <a:avLst/>
          </a:prstGeom>
          <a:ln w="2667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710236" y="2025904"/>
            <a:ext cx="154142" cy="43688"/>
          </a:xfrm>
          <a:prstGeom prst="line">
            <a:avLst/>
          </a:prstGeom>
          <a:ln w="2667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0864378" y="1938528"/>
            <a:ext cx="154142" cy="131064"/>
          </a:xfrm>
          <a:prstGeom prst="line">
            <a:avLst/>
          </a:prstGeom>
          <a:ln w="2667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49808" y="2926080"/>
            <a:ext cx="3364992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49808" y="2926080"/>
            <a:ext cx="146304" cy="1261872"/>
          </a:xfrm>
          <a:prstGeom prst="rect">
            <a:avLst/>
          </a:prstGeom>
          <a:solidFill>
            <a:srgbClr val="4F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42415" y="3072384"/>
            <a:ext cx="16916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02D3B"/>
                </a:solidFill>
                <a:latin typeface="Microsoft YaHei"/>
              </a:rPr>
              <a:t>腾讯控股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34639" y="3090672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606F7E"/>
                </a:solidFill>
                <a:latin typeface="Microsoft YaHei"/>
              </a:rPr>
              <a:t>00700.HK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" y="3383280"/>
            <a:ext cx="12344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4FBEC6"/>
                </a:solidFill>
                <a:latin typeface="Microsoft YaHei"/>
              </a:rPr>
              <a:t>港股 · 互联网平台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" y="3685032"/>
            <a:ext cx="13716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06F7E"/>
                </a:solidFill>
                <a:latin typeface="Microsoft YaHei"/>
              </a:rPr>
              <a:t>港币计价 / 平台经济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2624327" y="3642360"/>
            <a:ext cx="154142" cy="174752"/>
          </a:xfrm>
          <a:prstGeom prst="line">
            <a:avLst/>
          </a:prstGeom>
          <a:ln w="26670">
            <a:solidFill>
              <a:srgbClr val="4F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2778469" y="3511296"/>
            <a:ext cx="154142" cy="131064"/>
          </a:xfrm>
          <a:prstGeom prst="line">
            <a:avLst/>
          </a:prstGeom>
          <a:ln w="26670">
            <a:solidFill>
              <a:srgbClr val="4F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932611" y="3511296"/>
            <a:ext cx="154142" cy="174752"/>
          </a:xfrm>
          <a:prstGeom prst="line">
            <a:avLst/>
          </a:prstGeom>
          <a:ln w="26670">
            <a:solidFill>
              <a:srgbClr val="4F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086753" y="3686048"/>
            <a:ext cx="154141" cy="218440"/>
          </a:xfrm>
          <a:prstGeom prst="line">
            <a:avLst/>
          </a:prstGeom>
          <a:ln w="26670">
            <a:solidFill>
              <a:srgbClr val="4F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240894" y="3817112"/>
            <a:ext cx="154142" cy="87376"/>
          </a:xfrm>
          <a:prstGeom prst="line">
            <a:avLst/>
          </a:prstGeom>
          <a:ln w="26670">
            <a:solidFill>
              <a:srgbClr val="4F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395036" y="3729736"/>
            <a:ext cx="154142" cy="87376"/>
          </a:xfrm>
          <a:prstGeom prst="line">
            <a:avLst/>
          </a:prstGeom>
          <a:ln w="26670">
            <a:solidFill>
              <a:srgbClr val="4F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549178" y="3729736"/>
            <a:ext cx="154142" cy="43688"/>
          </a:xfrm>
          <a:prstGeom prst="line">
            <a:avLst/>
          </a:prstGeom>
          <a:ln w="26670">
            <a:solidFill>
              <a:srgbClr val="4F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4407408" y="2926080"/>
            <a:ext cx="3364992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407408" y="2926080"/>
            <a:ext cx="146304" cy="1261872"/>
          </a:xfrm>
          <a:prstGeom prst="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00016" y="3072384"/>
            <a:ext cx="16916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02D3B"/>
                </a:solidFill>
                <a:latin typeface="Microsoft YaHei"/>
              </a:rPr>
              <a:t>阿里巴巴-W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92240" y="3090672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606F7E"/>
                </a:solidFill>
                <a:latin typeface="Microsoft YaHei"/>
              </a:rPr>
              <a:t>09988.HK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00016" y="3383280"/>
            <a:ext cx="12344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E8B145"/>
                </a:solidFill>
                <a:latin typeface="Microsoft YaHei"/>
              </a:rPr>
              <a:t>港股 · 电商/云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00016" y="3685032"/>
            <a:ext cx="13716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06F7E"/>
                </a:solidFill>
                <a:latin typeface="Microsoft YaHei"/>
              </a:rPr>
              <a:t>双重上市 / 电商竞争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281928" y="3511296"/>
            <a:ext cx="154141" cy="98298"/>
          </a:xfrm>
          <a:prstGeom prst="line">
            <a:avLst/>
          </a:prstGeom>
          <a:ln w="26670">
            <a:solidFill>
              <a:srgbClr val="E8B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436069" y="3609594"/>
            <a:ext cx="154142" cy="147447"/>
          </a:xfrm>
          <a:prstGeom prst="line">
            <a:avLst/>
          </a:prstGeom>
          <a:ln w="26670">
            <a:solidFill>
              <a:srgbClr val="E8B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590211" y="3757041"/>
            <a:ext cx="154142" cy="122872"/>
          </a:xfrm>
          <a:prstGeom prst="line">
            <a:avLst/>
          </a:prstGeom>
          <a:ln w="26670">
            <a:solidFill>
              <a:srgbClr val="E8B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44353" y="3806190"/>
            <a:ext cx="154141" cy="73723"/>
          </a:xfrm>
          <a:prstGeom prst="line">
            <a:avLst/>
          </a:prstGeom>
          <a:ln w="26670">
            <a:solidFill>
              <a:srgbClr val="E8B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898494" y="3806190"/>
            <a:ext cx="154142" cy="98298"/>
          </a:xfrm>
          <a:prstGeom prst="line">
            <a:avLst/>
          </a:prstGeom>
          <a:ln w="26670">
            <a:solidFill>
              <a:srgbClr val="E8B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2636" y="3781615"/>
            <a:ext cx="154142" cy="122873"/>
          </a:xfrm>
          <a:prstGeom prst="line">
            <a:avLst/>
          </a:prstGeom>
          <a:ln w="26670">
            <a:solidFill>
              <a:srgbClr val="E8B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206778" y="3781615"/>
            <a:ext cx="154142" cy="49149"/>
          </a:xfrm>
          <a:prstGeom prst="line">
            <a:avLst/>
          </a:prstGeom>
          <a:ln w="26670">
            <a:solidFill>
              <a:srgbClr val="E8B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8065008" y="2926080"/>
            <a:ext cx="3364992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65008" y="2926080"/>
            <a:ext cx="146304" cy="1261872"/>
          </a:xfrm>
          <a:prstGeom prst="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357616" y="3072384"/>
            <a:ext cx="16916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02D3B"/>
                </a:solidFill>
                <a:latin typeface="Microsoft YaHei"/>
              </a:rPr>
              <a:t>汇丰控股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149840" y="3090672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606F7E"/>
                </a:solidFill>
                <a:latin typeface="Microsoft YaHei"/>
              </a:rPr>
              <a:t>00005.HK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57616" y="3383280"/>
            <a:ext cx="12344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468ED6"/>
                </a:solidFill>
                <a:latin typeface="Microsoft YaHei"/>
              </a:rPr>
              <a:t>港股 · 国际银行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57616" y="3685032"/>
            <a:ext cx="13716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06F7E"/>
                </a:solidFill>
                <a:latin typeface="Microsoft YaHei"/>
              </a:rPr>
              <a:t>利率敏感 / 高股息关注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9939528" y="3871722"/>
            <a:ext cx="154141" cy="32766"/>
          </a:xfrm>
          <a:prstGeom prst="line">
            <a:avLst/>
          </a:prstGeom>
          <a:ln w="2667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093669" y="3806190"/>
            <a:ext cx="154142" cy="98298"/>
          </a:xfrm>
          <a:prstGeom prst="line">
            <a:avLst/>
          </a:prstGeom>
          <a:ln w="2667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247811" y="3707892"/>
            <a:ext cx="154142" cy="98298"/>
          </a:xfrm>
          <a:prstGeom prst="line">
            <a:avLst/>
          </a:prstGeom>
          <a:ln w="2667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401953" y="3642360"/>
            <a:ext cx="154141" cy="65532"/>
          </a:xfrm>
          <a:prstGeom prst="line">
            <a:avLst/>
          </a:prstGeom>
          <a:ln w="2667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556094" y="3544062"/>
            <a:ext cx="154142" cy="98298"/>
          </a:xfrm>
          <a:prstGeom prst="line">
            <a:avLst/>
          </a:prstGeom>
          <a:ln w="2667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710236" y="3544062"/>
            <a:ext cx="154142" cy="65532"/>
          </a:xfrm>
          <a:prstGeom prst="line">
            <a:avLst/>
          </a:prstGeom>
          <a:ln w="2667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864378" y="3511296"/>
            <a:ext cx="154142" cy="98298"/>
          </a:xfrm>
          <a:prstGeom prst="line">
            <a:avLst/>
          </a:prstGeom>
          <a:ln w="2667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749808" y="4498848"/>
            <a:ext cx="3364992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49808" y="4498848"/>
            <a:ext cx="146304" cy="1261872"/>
          </a:xfrm>
          <a:prstGeom prst="rect">
            <a:avLst/>
          </a:prstGeom>
          <a:solidFill>
            <a:srgbClr val="5A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42415" y="4645152"/>
            <a:ext cx="16916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02D3B"/>
                </a:solidFill>
                <a:latin typeface="Microsoft YaHei"/>
              </a:rPr>
              <a:t>Apple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834639" y="4663440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606F7E"/>
                </a:solidFill>
                <a:latin typeface="Microsoft YaHei"/>
              </a:rPr>
              <a:t>AAPL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42415" y="4956048"/>
            <a:ext cx="12344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5A6B7D"/>
                </a:solidFill>
                <a:latin typeface="Microsoft YaHei"/>
              </a:rPr>
              <a:t>美股 · 消费电子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42415" y="5257800"/>
            <a:ext cx="13716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06F7E"/>
                </a:solidFill>
                <a:latin typeface="Microsoft YaHei"/>
              </a:rPr>
              <a:t>全球龙头 / 回购/生态</a:t>
            </a:r>
          </a:p>
        </p:txBody>
      </p:sp>
      <p:cxnSp>
        <p:nvCxnSpPr>
          <p:cNvPr id="95" name="Connector 94"/>
          <p:cNvCxnSpPr/>
          <p:nvPr/>
        </p:nvCxnSpPr>
        <p:spPr>
          <a:xfrm flipV="1">
            <a:off x="2624327" y="5415173"/>
            <a:ext cx="154142" cy="62082"/>
          </a:xfrm>
          <a:prstGeom prst="line">
            <a:avLst/>
          </a:prstGeom>
          <a:ln w="26670">
            <a:solidFill>
              <a:srgbClr val="5A6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2778469" y="5353090"/>
            <a:ext cx="154142" cy="62083"/>
          </a:xfrm>
          <a:prstGeom prst="line">
            <a:avLst/>
          </a:prstGeom>
          <a:ln w="26670">
            <a:solidFill>
              <a:srgbClr val="5A6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932611" y="5311701"/>
            <a:ext cx="154142" cy="41389"/>
          </a:xfrm>
          <a:prstGeom prst="line">
            <a:avLst/>
          </a:prstGeom>
          <a:ln w="26670">
            <a:solidFill>
              <a:srgbClr val="5A6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086753" y="5228924"/>
            <a:ext cx="154141" cy="82777"/>
          </a:xfrm>
          <a:prstGeom prst="line">
            <a:avLst/>
          </a:prstGeom>
          <a:ln w="26670">
            <a:solidFill>
              <a:srgbClr val="5A6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3240894" y="5228924"/>
            <a:ext cx="154142" cy="41388"/>
          </a:xfrm>
          <a:prstGeom prst="line">
            <a:avLst/>
          </a:prstGeom>
          <a:ln w="26670">
            <a:solidFill>
              <a:srgbClr val="5A6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395036" y="5146146"/>
            <a:ext cx="154142" cy="124166"/>
          </a:xfrm>
          <a:prstGeom prst="line">
            <a:avLst/>
          </a:prstGeom>
          <a:ln w="26670">
            <a:solidFill>
              <a:srgbClr val="5A6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549178" y="5084064"/>
            <a:ext cx="154142" cy="62082"/>
          </a:xfrm>
          <a:prstGeom prst="line">
            <a:avLst/>
          </a:prstGeom>
          <a:ln w="26670">
            <a:solidFill>
              <a:srgbClr val="5A6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4407408" y="4498848"/>
            <a:ext cx="3364992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407408" y="4498848"/>
            <a:ext cx="146304" cy="1261872"/>
          </a:xfrm>
          <a:prstGeom prst="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00016" y="4645152"/>
            <a:ext cx="16916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02D3B"/>
                </a:solidFill>
                <a:latin typeface="Microsoft YaHei"/>
              </a:rPr>
              <a:t>NVIDIA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92240" y="4663440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606F7E"/>
                </a:solidFill>
                <a:latin typeface="Microsoft YaHei"/>
              </a:rPr>
              <a:t>NVDA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700016" y="4956048"/>
            <a:ext cx="12344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DC4455"/>
                </a:solidFill>
                <a:latin typeface="Microsoft YaHei"/>
              </a:rPr>
              <a:t>美股 · AI芯片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00016" y="5257800"/>
            <a:ext cx="13716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06F7E"/>
                </a:solidFill>
                <a:latin typeface="Microsoft YaHei"/>
              </a:rPr>
              <a:t>高成长 / 景气周期</a:t>
            </a:r>
          </a:p>
        </p:txBody>
      </p:sp>
      <p:cxnSp>
        <p:nvCxnSpPr>
          <p:cNvPr id="108" name="Connector 107"/>
          <p:cNvCxnSpPr/>
          <p:nvPr/>
        </p:nvCxnSpPr>
        <p:spPr>
          <a:xfrm flipV="1">
            <a:off x="6281928" y="5453183"/>
            <a:ext cx="154141" cy="24072"/>
          </a:xfrm>
          <a:prstGeom prst="line">
            <a:avLst/>
          </a:prstGeom>
          <a:ln w="2667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6436069" y="5405037"/>
            <a:ext cx="154142" cy="48146"/>
          </a:xfrm>
          <a:prstGeom prst="line">
            <a:avLst/>
          </a:prstGeom>
          <a:ln w="2667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6590211" y="5340842"/>
            <a:ext cx="154142" cy="64195"/>
          </a:xfrm>
          <a:prstGeom prst="line">
            <a:avLst/>
          </a:prstGeom>
          <a:ln w="2667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6744353" y="5244550"/>
            <a:ext cx="154141" cy="96292"/>
          </a:xfrm>
          <a:prstGeom prst="line">
            <a:avLst/>
          </a:prstGeom>
          <a:ln w="2667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6898494" y="5180355"/>
            <a:ext cx="154142" cy="64195"/>
          </a:xfrm>
          <a:prstGeom prst="line">
            <a:avLst/>
          </a:prstGeom>
          <a:ln w="2667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7052636" y="5132209"/>
            <a:ext cx="154142" cy="48146"/>
          </a:xfrm>
          <a:prstGeom prst="line">
            <a:avLst/>
          </a:prstGeom>
          <a:ln w="2667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206778" y="5084064"/>
            <a:ext cx="154142" cy="48145"/>
          </a:xfrm>
          <a:prstGeom prst="line">
            <a:avLst/>
          </a:prstGeom>
          <a:ln w="2667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/>
          <p:cNvSpPr/>
          <p:nvPr/>
        </p:nvSpPr>
        <p:spPr>
          <a:xfrm>
            <a:off x="8065008" y="4498848"/>
            <a:ext cx="3364992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065008" y="4498848"/>
            <a:ext cx="146304" cy="1261872"/>
          </a:xfrm>
          <a:prstGeom prst="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357616" y="4645152"/>
            <a:ext cx="16916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02D3B"/>
                </a:solidFill>
                <a:latin typeface="Microsoft YaHei"/>
              </a:rPr>
              <a:t>Tesla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149840" y="4663440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606F7E"/>
                </a:solidFill>
                <a:latin typeface="Microsoft YaHei"/>
              </a:rPr>
              <a:t>TSLA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357616" y="4956048"/>
            <a:ext cx="12344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7A676"/>
                </a:solidFill>
                <a:latin typeface="Microsoft YaHei"/>
              </a:rPr>
              <a:t>美股 · 高波动成长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57616" y="5257800"/>
            <a:ext cx="13716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06F7E"/>
                </a:solidFill>
                <a:latin typeface="Microsoft YaHei"/>
              </a:rPr>
              <a:t>波动大 / 叙事强</a:t>
            </a:r>
          </a:p>
        </p:txBody>
      </p:sp>
      <p:cxnSp>
        <p:nvCxnSpPr>
          <p:cNvPr id="121" name="Connector 120"/>
          <p:cNvCxnSpPr/>
          <p:nvPr/>
        </p:nvCxnSpPr>
        <p:spPr>
          <a:xfrm flipV="1">
            <a:off x="9939528" y="5257068"/>
            <a:ext cx="154141" cy="220187"/>
          </a:xfrm>
          <a:prstGeom prst="line">
            <a:avLst/>
          </a:prstGeom>
          <a:ln w="2667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0093669" y="5257068"/>
            <a:ext cx="154142" cy="110094"/>
          </a:xfrm>
          <a:prstGeom prst="line">
            <a:avLst/>
          </a:prstGeom>
          <a:ln w="2667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10247811" y="5084064"/>
            <a:ext cx="154142" cy="283098"/>
          </a:xfrm>
          <a:prstGeom prst="line">
            <a:avLst/>
          </a:prstGeom>
          <a:ln w="2667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0401953" y="5084064"/>
            <a:ext cx="154141" cy="220187"/>
          </a:xfrm>
          <a:prstGeom prst="line">
            <a:avLst/>
          </a:prstGeom>
          <a:ln w="2667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0556094" y="5162702"/>
            <a:ext cx="154142" cy="141549"/>
          </a:xfrm>
          <a:prstGeom prst="line">
            <a:avLst/>
          </a:prstGeom>
          <a:ln w="2667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0710236" y="5162702"/>
            <a:ext cx="154142" cy="220187"/>
          </a:xfrm>
          <a:prstGeom prst="line">
            <a:avLst/>
          </a:prstGeom>
          <a:ln w="2667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0864378" y="5272796"/>
            <a:ext cx="154142" cy="110093"/>
          </a:xfrm>
          <a:prstGeom prst="line">
            <a:avLst/>
          </a:prstGeom>
          <a:ln w="2667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A股案例：同在A股，股票性格也完全不同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案例图解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讲师提示：贵州茅台、宁德时代、工商银行用于展示消费、成长、金融三类样本。 小走势图为教学示意，非真实历史价格。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234440"/>
            <a:ext cx="3383280" cy="48006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90472"/>
            <a:ext cx="20116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202D3B"/>
                </a:solidFill>
                <a:latin typeface="Microsoft YaHei"/>
              </a:rPr>
              <a:t>贵州茅台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545336"/>
            <a:ext cx="777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06F7E"/>
                </a:solidFill>
                <a:latin typeface="Microsoft YaHei"/>
              </a:rPr>
              <a:t>600519.SH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1984248"/>
            <a:ext cx="1234440" cy="292608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29968"/>
            <a:ext cx="123444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消费龙头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978407" y="3806289"/>
            <a:ext cx="385355" cy="107343"/>
          </a:xfrm>
          <a:prstGeom prst="line">
            <a:avLst/>
          </a:prstGeom>
          <a:ln w="2667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63762" y="3591604"/>
            <a:ext cx="385354" cy="214685"/>
          </a:xfrm>
          <a:prstGeom prst="line">
            <a:avLst/>
          </a:prstGeom>
          <a:ln w="2667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49116" y="3162233"/>
            <a:ext cx="385354" cy="429371"/>
          </a:xfrm>
          <a:prstGeom prst="line">
            <a:avLst/>
          </a:prstGeom>
          <a:ln w="2667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134470" y="2947548"/>
            <a:ext cx="385355" cy="214685"/>
          </a:xfrm>
          <a:prstGeom prst="line">
            <a:avLst/>
          </a:prstGeom>
          <a:ln w="2667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519825" y="2947548"/>
            <a:ext cx="385354" cy="107343"/>
          </a:xfrm>
          <a:prstGeom prst="line">
            <a:avLst/>
          </a:prstGeom>
          <a:ln w="2667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905179" y="2679192"/>
            <a:ext cx="385354" cy="375699"/>
          </a:xfrm>
          <a:prstGeom prst="line">
            <a:avLst/>
          </a:prstGeom>
          <a:ln w="2667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90533" y="2679192"/>
            <a:ext cx="385354" cy="161013"/>
          </a:xfrm>
          <a:prstGeom prst="line">
            <a:avLst/>
          </a:prstGeom>
          <a:ln w="2667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46403" y="3913632"/>
            <a:ext cx="64008" cy="0"/>
          </a:xfrm>
          <a:prstGeom prst="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1758" y="3806289"/>
            <a:ext cx="64008" cy="107342"/>
          </a:xfrm>
          <a:prstGeom prst="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17112" y="3591604"/>
            <a:ext cx="64008" cy="322027"/>
          </a:xfrm>
          <a:prstGeom prst="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02466" y="3162233"/>
            <a:ext cx="64008" cy="751398"/>
          </a:xfrm>
          <a:prstGeom prst="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87821" y="2947548"/>
            <a:ext cx="64008" cy="966083"/>
          </a:xfrm>
          <a:prstGeom prst="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73175" y="3054891"/>
            <a:ext cx="64008" cy="858740"/>
          </a:xfrm>
          <a:prstGeom prst="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58529" y="2679192"/>
            <a:ext cx="64008" cy="1234440"/>
          </a:xfrm>
          <a:prstGeom prst="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43883" y="2840205"/>
            <a:ext cx="64008" cy="1073426"/>
          </a:xfrm>
          <a:prstGeom prst="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4206240"/>
            <a:ext cx="2697480" cy="21945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250" b="1">
                <a:solidFill>
                  <a:srgbClr val="606F7E"/>
                </a:solidFill>
                <a:latin typeface="Microsoft YaHei"/>
              </a:rPr>
              <a:t>适合练习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4581144"/>
            <a:ext cx="2377440" cy="9601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200"/>
              </a:spcAft>
              <a:defRPr sz="1250">
                <a:solidFill>
                  <a:srgbClr val="202D3B"/>
                </a:solidFill>
                <a:latin typeface="Microsoft YaHei"/>
              </a:defRPr>
            </a:pPr>
            <a:r>
              <a:t>高价股</a:t>
            </a:r>
          </a:p>
          <a:p>
            <a:pPr marL="171450" indent="-114300">
              <a:spcAft>
                <a:spcPts val="200"/>
              </a:spcAft>
              <a:defRPr sz="1250">
                <a:solidFill>
                  <a:srgbClr val="202D3B"/>
                </a:solidFill>
                <a:latin typeface="Microsoft YaHei"/>
              </a:defRPr>
            </a:pPr>
            <a:r>
              <a:t>品牌/利润率</a:t>
            </a:r>
          </a:p>
          <a:p>
            <a:pPr marL="171450" indent="-114300">
              <a:spcAft>
                <a:spcPts val="200"/>
              </a:spcAft>
              <a:defRPr sz="1250">
                <a:solidFill>
                  <a:srgbClr val="202D3B"/>
                </a:solidFill>
                <a:latin typeface="Microsoft YaHei"/>
              </a:defRPr>
            </a:pPr>
            <a:r>
              <a:t>适合讲长期趋势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1234440"/>
            <a:ext cx="3383280" cy="48006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45152" y="1490472"/>
            <a:ext cx="20116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202D3B"/>
                </a:solidFill>
                <a:latin typeface="Microsoft YaHei"/>
              </a:rPr>
              <a:t>宁德时代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56831" y="1545336"/>
            <a:ext cx="777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06F7E"/>
                </a:solidFill>
                <a:latin typeface="Microsoft YaHei"/>
              </a:rPr>
              <a:t>300750.SZ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45152" y="1984248"/>
            <a:ext cx="1234440" cy="292608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45152" y="2029968"/>
            <a:ext cx="123444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新能源成长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4709159" y="3615663"/>
            <a:ext cx="385355" cy="297969"/>
          </a:xfrm>
          <a:prstGeom prst="line">
            <a:avLst/>
          </a:prstGeom>
          <a:ln w="2667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094514" y="3232561"/>
            <a:ext cx="385354" cy="383102"/>
          </a:xfrm>
          <a:prstGeom prst="line">
            <a:avLst/>
          </a:prstGeom>
          <a:ln w="2667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479868" y="2679192"/>
            <a:ext cx="385354" cy="553369"/>
          </a:xfrm>
          <a:prstGeom prst="line">
            <a:avLst/>
          </a:prstGeom>
          <a:ln w="2667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865222" y="2679192"/>
            <a:ext cx="385355" cy="297968"/>
          </a:xfrm>
          <a:prstGeom prst="line">
            <a:avLst/>
          </a:prstGeom>
          <a:ln w="2667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250577" y="2977160"/>
            <a:ext cx="385354" cy="340535"/>
          </a:xfrm>
          <a:prstGeom prst="line">
            <a:avLst/>
          </a:prstGeom>
          <a:ln w="2667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635931" y="3147427"/>
            <a:ext cx="385354" cy="170268"/>
          </a:xfrm>
          <a:prstGeom prst="line">
            <a:avLst/>
          </a:prstGeom>
          <a:ln w="2667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021285" y="3147427"/>
            <a:ext cx="385355" cy="212835"/>
          </a:xfrm>
          <a:prstGeom prst="line">
            <a:avLst/>
          </a:prstGeom>
          <a:ln w="2667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4677155" y="3913632"/>
            <a:ext cx="64008" cy="0"/>
          </a:xfrm>
          <a:prstGeom prst="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62510" y="3615663"/>
            <a:ext cx="64008" cy="297968"/>
          </a:xfrm>
          <a:prstGeom prst="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47864" y="3232561"/>
            <a:ext cx="64008" cy="681070"/>
          </a:xfrm>
          <a:prstGeom prst="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833218" y="2679192"/>
            <a:ext cx="64008" cy="1234440"/>
          </a:xfrm>
          <a:prstGeom prst="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8573" y="2977160"/>
            <a:ext cx="64008" cy="936471"/>
          </a:xfrm>
          <a:prstGeom prst="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03927" y="3317695"/>
            <a:ext cx="64008" cy="595936"/>
          </a:xfrm>
          <a:prstGeom prst="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989281" y="3147427"/>
            <a:ext cx="64008" cy="766204"/>
          </a:xfrm>
          <a:prstGeom prst="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74636" y="3360262"/>
            <a:ext cx="64008" cy="553369"/>
          </a:xfrm>
          <a:prstGeom prst="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81728" y="4206240"/>
            <a:ext cx="2697480" cy="21945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250" b="1">
                <a:solidFill>
                  <a:srgbClr val="606F7E"/>
                </a:solidFill>
                <a:latin typeface="Microsoft YaHei"/>
              </a:rPr>
              <a:t>适合练习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46320" y="4581144"/>
            <a:ext cx="2377440" cy="9601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200"/>
              </a:spcAft>
              <a:defRPr sz="1250">
                <a:solidFill>
                  <a:srgbClr val="202D3B"/>
                </a:solidFill>
                <a:latin typeface="Microsoft YaHei"/>
              </a:defRPr>
            </a:pPr>
            <a:r>
              <a:t>成长股</a:t>
            </a:r>
          </a:p>
          <a:p>
            <a:pPr marL="171450" indent="-114300">
              <a:spcAft>
                <a:spcPts val="200"/>
              </a:spcAft>
              <a:defRPr sz="1250">
                <a:solidFill>
                  <a:srgbClr val="202D3B"/>
                </a:solidFill>
                <a:latin typeface="Microsoft YaHei"/>
              </a:defRPr>
            </a:pPr>
            <a:r>
              <a:t>产业景气</a:t>
            </a:r>
          </a:p>
          <a:p>
            <a:pPr marL="171450" indent="-114300">
              <a:spcAft>
                <a:spcPts val="200"/>
              </a:spcAft>
              <a:defRPr sz="1250">
                <a:solidFill>
                  <a:srgbClr val="202D3B"/>
                </a:solidFill>
                <a:latin typeface="Microsoft YaHei"/>
              </a:defRPr>
            </a:pPr>
            <a:r>
              <a:t>适合讲波动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19872" y="1234440"/>
            <a:ext cx="3383280" cy="48006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75904" y="1490472"/>
            <a:ext cx="20116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202D3B"/>
                </a:solidFill>
                <a:latin typeface="Microsoft YaHei"/>
              </a:rPr>
              <a:t>工商银行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87584" y="1545336"/>
            <a:ext cx="777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06F7E"/>
                </a:solidFill>
                <a:latin typeface="Microsoft YaHei"/>
              </a:rPr>
              <a:t>601398.SH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75904" y="1984248"/>
            <a:ext cx="1234440" cy="292608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75904" y="2029968"/>
            <a:ext cx="123444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大型银行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439912" y="3776472"/>
            <a:ext cx="385354" cy="137160"/>
          </a:xfrm>
          <a:prstGeom prst="line">
            <a:avLst/>
          </a:prstGeom>
          <a:ln w="2667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825266" y="3502151"/>
            <a:ext cx="385354" cy="411481"/>
          </a:xfrm>
          <a:prstGeom prst="line">
            <a:avLst/>
          </a:prstGeom>
          <a:ln w="2667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210620" y="3502151"/>
            <a:ext cx="385354" cy="137161"/>
          </a:xfrm>
          <a:prstGeom prst="line">
            <a:avLst/>
          </a:prstGeom>
          <a:ln w="2667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9595974" y="3282696"/>
            <a:ext cx="385355" cy="356616"/>
          </a:xfrm>
          <a:prstGeom prst="line">
            <a:avLst/>
          </a:prstGeom>
          <a:ln w="2667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9981329" y="2953512"/>
            <a:ext cx="385354" cy="329184"/>
          </a:xfrm>
          <a:prstGeom prst="line">
            <a:avLst/>
          </a:prstGeom>
          <a:ln w="2667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366683" y="2953512"/>
            <a:ext cx="385354" cy="137160"/>
          </a:xfrm>
          <a:prstGeom prst="line">
            <a:avLst/>
          </a:prstGeom>
          <a:ln w="2667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0752037" y="2679192"/>
            <a:ext cx="385355" cy="411480"/>
          </a:xfrm>
          <a:prstGeom prst="line">
            <a:avLst/>
          </a:prstGeom>
          <a:ln w="2667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8407908" y="3776472"/>
            <a:ext cx="64008" cy="137160"/>
          </a:xfrm>
          <a:prstGeom prst="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793262" y="3913632"/>
            <a:ext cx="64008" cy="0"/>
          </a:xfrm>
          <a:prstGeom prst="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178616" y="3502151"/>
            <a:ext cx="64008" cy="411480"/>
          </a:xfrm>
          <a:prstGeom prst="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563970" y="3639312"/>
            <a:ext cx="64008" cy="274320"/>
          </a:xfrm>
          <a:prstGeom prst="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949325" y="3282696"/>
            <a:ext cx="64008" cy="630935"/>
          </a:xfrm>
          <a:prstGeom prst="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334679" y="2953512"/>
            <a:ext cx="64008" cy="960119"/>
          </a:xfrm>
          <a:prstGeom prst="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720033" y="3090672"/>
            <a:ext cx="64008" cy="822960"/>
          </a:xfrm>
          <a:prstGeom prst="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105388" y="2679192"/>
            <a:ext cx="64008" cy="1234440"/>
          </a:xfrm>
          <a:prstGeom prst="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12480" y="4206240"/>
            <a:ext cx="2697480" cy="21945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250" b="1">
                <a:solidFill>
                  <a:srgbClr val="606F7E"/>
                </a:solidFill>
                <a:latin typeface="Microsoft YaHei"/>
              </a:rPr>
              <a:t>适合练习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77072" y="4581144"/>
            <a:ext cx="2377440" cy="9601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200"/>
              </a:spcAft>
              <a:defRPr sz="1250">
                <a:solidFill>
                  <a:srgbClr val="202D3B"/>
                </a:solidFill>
                <a:latin typeface="Microsoft YaHei"/>
              </a:defRPr>
            </a:pPr>
            <a:r>
              <a:t>低波动</a:t>
            </a:r>
          </a:p>
          <a:p>
            <a:pPr marL="171450" indent="-114300">
              <a:spcAft>
                <a:spcPts val="200"/>
              </a:spcAft>
              <a:defRPr sz="1250">
                <a:solidFill>
                  <a:srgbClr val="202D3B"/>
                </a:solidFill>
                <a:latin typeface="Microsoft YaHei"/>
              </a:defRPr>
            </a:pPr>
            <a:r>
              <a:t>分红/估值</a:t>
            </a:r>
          </a:p>
          <a:p>
            <a:pPr marL="171450" indent="-114300">
              <a:spcAft>
                <a:spcPts val="200"/>
              </a:spcAft>
              <a:defRPr sz="1250">
                <a:solidFill>
                  <a:srgbClr val="202D3B"/>
                </a:solidFill>
                <a:latin typeface="Microsoft YaHei"/>
              </a:defRPr>
            </a:pPr>
            <a:r>
              <a:t>适合讲防守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港股案例：规则、币种和流动性要一起看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案例图解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讲师提示：腾讯控股、阿里巴巴-W、汇丰控股用于展示港股平台、科技和金融样本。 小走势图为教学示意，非真实历史价格。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234440"/>
            <a:ext cx="3383280" cy="48006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90472"/>
            <a:ext cx="20116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202D3B"/>
                </a:solidFill>
                <a:latin typeface="Microsoft YaHei"/>
              </a:rPr>
              <a:t>腾讯控股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545336"/>
            <a:ext cx="777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06F7E"/>
                </a:solidFill>
                <a:latin typeface="Microsoft YaHei"/>
              </a:rPr>
              <a:t>00700.HK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1984248"/>
            <a:ext cx="1234440" cy="292608"/>
          </a:xfrm>
          <a:prstGeom prst="roundRect">
            <a:avLst/>
          </a:prstGeom>
          <a:solidFill>
            <a:srgbClr val="4F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29968"/>
            <a:ext cx="123444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互联网平台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978407" y="3090672"/>
            <a:ext cx="385355" cy="548640"/>
          </a:xfrm>
          <a:prstGeom prst="line">
            <a:avLst/>
          </a:prstGeom>
          <a:ln w="26670">
            <a:solidFill>
              <a:srgbClr val="4F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63762" y="2679192"/>
            <a:ext cx="385354" cy="411480"/>
          </a:xfrm>
          <a:prstGeom prst="line">
            <a:avLst/>
          </a:prstGeom>
          <a:ln w="26670">
            <a:solidFill>
              <a:srgbClr val="4F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749116" y="2679192"/>
            <a:ext cx="385354" cy="548640"/>
          </a:xfrm>
          <a:prstGeom prst="line">
            <a:avLst/>
          </a:prstGeom>
          <a:ln w="26670">
            <a:solidFill>
              <a:srgbClr val="4F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134470" y="3227832"/>
            <a:ext cx="385355" cy="685800"/>
          </a:xfrm>
          <a:prstGeom prst="line">
            <a:avLst/>
          </a:prstGeom>
          <a:ln w="26670">
            <a:solidFill>
              <a:srgbClr val="4F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519825" y="3639312"/>
            <a:ext cx="385354" cy="274320"/>
          </a:xfrm>
          <a:prstGeom prst="line">
            <a:avLst/>
          </a:prstGeom>
          <a:ln w="26670">
            <a:solidFill>
              <a:srgbClr val="4F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905179" y="3364991"/>
            <a:ext cx="385354" cy="274321"/>
          </a:xfrm>
          <a:prstGeom prst="line">
            <a:avLst/>
          </a:prstGeom>
          <a:ln w="26670">
            <a:solidFill>
              <a:srgbClr val="4F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90533" y="3364991"/>
            <a:ext cx="385354" cy="137161"/>
          </a:xfrm>
          <a:prstGeom prst="line">
            <a:avLst/>
          </a:prstGeom>
          <a:ln w="26670">
            <a:solidFill>
              <a:srgbClr val="4F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46403" y="3639312"/>
            <a:ext cx="64008" cy="274320"/>
          </a:xfrm>
          <a:prstGeom prst="rect">
            <a:avLst/>
          </a:prstGeom>
          <a:solidFill>
            <a:srgbClr val="4F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1758" y="3090672"/>
            <a:ext cx="64008" cy="822960"/>
          </a:xfrm>
          <a:prstGeom prst="rect">
            <a:avLst/>
          </a:prstGeom>
          <a:solidFill>
            <a:srgbClr val="4F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17112" y="2679192"/>
            <a:ext cx="64008" cy="1234440"/>
          </a:xfrm>
          <a:prstGeom prst="rect">
            <a:avLst/>
          </a:prstGeom>
          <a:solidFill>
            <a:srgbClr val="4F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02466" y="3227832"/>
            <a:ext cx="64008" cy="685800"/>
          </a:xfrm>
          <a:prstGeom prst="rect">
            <a:avLst/>
          </a:prstGeom>
          <a:solidFill>
            <a:srgbClr val="4F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87821" y="3913632"/>
            <a:ext cx="64008" cy="0"/>
          </a:xfrm>
          <a:prstGeom prst="rect">
            <a:avLst/>
          </a:prstGeom>
          <a:solidFill>
            <a:srgbClr val="4F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73175" y="3639312"/>
            <a:ext cx="64008" cy="274320"/>
          </a:xfrm>
          <a:prstGeom prst="rect">
            <a:avLst/>
          </a:prstGeom>
          <a:solidFill>
            <a:srgbClr val="4F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58529" y="3364991"/>
            <a:ext cx="64008" cy="548640"/>
          </a:xfrm>
          <a:prstGeom prst="rect">
            <a:avLst/>
          </a:prstGeom>
          <a:solidFill>
            <a:srgbClr val="4F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43883" y="3502152"/>
            <a:ext cx="64008" cy="411480"/>
          </a:xfrm>
          <a:prstGeom prst="rect">
            <a:avLst/>
          </a:prstGeom>
          <a:solidFill>
            <a:srgbClr val="4F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4206240"/>
            <a:ext cx="2697480" cy="21945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250" b="1">
                <a:solidFill>
                  <a:srgbClr val="606F7E"/>
                </a:solidFill>
                <a:latin typeface="Microsoft YaHei"/>
              </a:rPr>
              <a:t>适合练习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4581144"/>
            <a:ext cx="2377440" cy="9601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200"/>
              </a:spcAft>
              <a:defRPr sz="1250">
                <a:solidFill>
                  <a:srgbClr val="202D3B"/>
                </a:solidFill>
                <a:latin typeface="Microsoft YaHei"/>
              </a:defRPr>
            </a:pPr>
            <a:r>
              <a:t>港币计价</a:t>
            </a:r>
          </a:p>
          <a:p>
            <a:pPr marL="171450" indent="-114300">
              <a:spcAft>
                <a:spcPts val="200"/>
              </a:spcAft>
              <a:defRPr sz="1250">
                <a:solidFill>
                  <a:srgbClr val="202D3B"/>
                </a:solidFill>
                <a:latin typeface="Microsoft YaHei"/>
              </a:defRPr>
            </a:pPr>
            <a:r>
              <a:t>平台经济</a:t>
            </a:r>
          </a:p>
          <a:p>
            <a:pPr marL="171450" indent="-114300">
              <a:spcAft>
                <a:spcPts val="200"/>
              </a:spcAft>
              <a:defRPr sz="1250">
                <a:solidFill>
                  <a:srgbClr val="202D3B"/>
                </a:solidFill>
                <a:latin typeface="Microsoft YaHei"/>
              </a:defRPr>
            </a:pPr>
            <a:r>
              <a:t>适合讲估值回撤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1234440"/>
            <a:ext cx="3383280" cy="48006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45152" y="1490472"/>
            <a:ext cx="20116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202D3B"/>
                </a:solidFill>
                <a:latin typeface="Microsoft YaHei"/>
              </a:rPr>
              <a:t>阿里巴巴-W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56831" y="1545336"/>
            <a:ext cx="777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06F7E"/>
                </a:solidFill>
                <a:latin typeface="Microsoft YaHei"/>
              </a:rPr>
              <a:t>09988.HK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45152" y="1984248"/>
            <a:ext cx="1234440" cy="292608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45152" y="2029968"/>
            <a:ext cx="123444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电商/云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709159" y="2679192"/>
            <a:ext cx="385355" cy="308610"/>
          </a:xfrm>
          <a:prstGeom prst="line">
            <a:avLst/>
          </a:prstGeom>
          <a:ln w="26670">
            <a:solidFill>
              <a:srgbClr val="E8B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094514" y="2987802"/>
            <a:ext cx="385354" cy="462915"/>
          </a:xfrm>
          <a:prstGeom prst="line">
            <a:avLst/>
          </a:prstGeom>
          <a:ln w="26670">
            <a:solidFill>
              <a:srgbClr val="E8B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479868" y="3450717"/>
            <a:ext cx="385354" cy="385762"/>
          </a:xfrm>
          <a:prstGeom prst="line">
            <a:avLst/>
          </a:prstGeom>
          <a:ln w="26670">
            <a:solidFill>
              <a:srgbClr val="E8B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865222" y="3605022"/>
            <a:ext cx="385355" cy="231457"/>
          </a:xfrm>
          <a:prstGeom prst="line">
            <a:avLst/>
          </a:prstGeom>
          <a:ln w="26670">
            <a:solidFill>
              <a:srgbClr val="E8B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250577" y="3605022"/>
            <a:ext cx="385354" cy="308610"/>
          </a:xfrm>
          <a:prstGeom prst="line">
            <a:avLst/>
          </a:prstGeom>
          <a:ln w="26670">
            <a:solidFill>
              <a:srgbClr val="E8B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635931" y="3527869"/>
            <a:ext cx="385354" cy="385763"/>
          </a:xfrm>
          <a:prstGeom prst="line">
            <a:avLst/>
          </a:prstGeom>
          <a:ln w="26670">
            <a:solidFill>
              <a:srgbClr val="E8B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021285" y="3527869"/>
            <a:ext cx="385355" cy="154305"/>
          </a:xfrm>
          <a:prstGeom prst="line">
            <a:avLst/>
          </a:prstGeom>
          <a:ln w="26670">
            <a:solidFill>
              <a:srgbClr val="E8B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4677155" y="2679192"/>
            <a:ext cx="64008" cy="1234440"/>
          </a:xfrm>
          <a:prstGeom prst="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62510" y="2987802"/>
            <a:ext cx="64008" cy="925830"/>
          </a:xfrm>
          <a:prstGeom prst="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47864" y="3450717"/>
            <a:ext cx="64008" cy="462914"/>
          </a:xfrm>
          <a:prstGeom prst="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833218" y="3836479"/>
            <a:ext cx="64008" cy="77152"/>
          </a:xfrm>
          <a:prstGeom prst="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8573" y="3605022"/>
            <a:ext cx="64008" cy="308609"/>
          </a:xfrm>
          <a:prstGeom prst="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03927" y="3913632"/>
            <a:ext cx="64008" cy="0"/>
          </a:xfrm>
          <a:prstGeom prst="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989281" y="3527869"/>
            <a:ext cx="64008" cy="385762"/>
          </a:xfrm>
          <a:prstGeom prst="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74636" y="3682174"/>
            <a:ext cx="64008" cy="231457"/>
          </a:xfrm>
          <a:prstGeom prst="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81728" y="4206240"/>
            <a:ext cx="2697480" cy="21945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250" b="1">
                <a:solidFill>
                  <a:srgbClr val="606F7E"/>
                </a:solidFill>
                <a:latin typeface="Microsoft YaHei"/>
              </a:rPr>
              <a:t>适合练习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46320" y="4581144"/>
            <a:ext cx="2377440" cy="9601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200"/>
              </a:spcAft>
              <a:defRPr sz="1250">
                <a:solidFill>
                  <a:srgbClr val="202D3B"/>
                </a:solidFill>
                <a:latin typeface="Microsoft YaHei"/>
              </a:defRPr>
            </a:pPr>
            <a:r>
              <a:t>双重上市</a:t>
            </a:r>
          </a:p>
          <a:p>
            <a:pPr marL="171450" indent="-114300">
              <a:spcAft>
                <a:spcPts val="200"/>
              </a:spcAft>
              <a:defRPr sz="1250">
                <a:solidFill>
                  <a:srgbClr val="202D3B"/>
                </a:solidFill>
                <a:latin typeface="Microsoft YaHei"/>
              </a:defRPr>
            </a:pPr>
            <a:r>
              <a:t>电商竞争</a:t>
            </a:r>
          </a:p>
          <a:p>
            <a:pPr marL="171450" indent="-114300">
              <a:spcAft>
                <a:spcPts val="200"/>
              </a:spcAft>
              <a:defRPr sz="1250">
                <a:solidFill>
                  <a:srgbClr val="202D3B"/>
                </a:solidFill>
                <a:latin typeface="Microsoft YaHei"/>
              </a:defRPr>
            </a:pPr>
            <a:r>
              <a:t>适合讲事件影响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19872" y="1234440"/>
            <a:ext cx="3383280" cy="48006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75904" y="1490472"/>
            <a:ext cx="20116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202D3B"/>
                </a:solidFill>
                <a:latin typeface="Microsoft YaHei"/>
              </a:rPr>
              <a:t>汇丰控股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87584" y="1545336"/>
            <a:ext cx="777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06F7E"/>
                </a:solidFill>
                <a:latin typeface="Microsoft YaHei"/>
              </a:rPr>
              <a:t>00005.HK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75904" y="1984248"/>
            <a:ext cx="1234440" cy="292608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75904" y="2029968"/>
            <a:ext cx="123444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国际银行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439912" y="3810762"/>
            <a:ext cx="385354" cy="102870"/>
          </a:xfrm>
          <a:prstGeom prst="line">
            <a:avLst/>
          </a:prstGeom>
          <a:ln w="2667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825266" y="3605022"/>
            <a:ext cx="385354" cy="308610"/>
          </a:xfrm>
          <a:prstGeom prst="line">
            <a:avLst/>
          </a:prstGeom>
          <a:ln w="2667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210620" y="3296412"/>
            <a:ext cx="385354" cy="308610"/>
          </a:xfrm>
          <a:prstGeom prst="line">
            <a:avLst/>
          </a:prstGeom>
          <a:ln w="2667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9595974" y="3090672"/>
            <a:ext cx="385355" cy="205740"/>
          </a:xfrm>
          <a:prstGeom prst="line">
            <a:avLst/>
          </a:prstGeom>
          <a:ln w="2667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9981329" y="2782062"/>
            <a:ext cx="385354" cy="308610"/>
          </a:xfrm>
          <a:prstGeom prst="line">
            <a:avLst/>
          </a:prstGeom>
          <a:ln w="2667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366683" y="2782062"/>
            <a:ext cx="385354" cy="205740"/>
          </a:xfrm>
          <a:prstGeom prst="line">
            <a:avLst/>
          </a:prstGeom>
          <a:ln w="2667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0752037" y="2679192"/>
            <a:ext cx="385355" cy="308610"/>
          </a:xfrm>
          <a:prstGeom prst="line">
            <a:avLst/>
          </a:prstGeom>
          <a:ln w="2667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8407908" y="3810762"/>
            <a:ext cx="64008" cy="102869"/>
          </a:xfrm>
          <a:prstGeom prst="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793262" y="3913632"/>
            <a:ext cx="64008" cy="0"/>
          </a:xfrm>
          <a:prstGeom prst="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178616" y="3605022"/>
            <a:ext cx="64008" cy="308610"/>
          </a:xfrm>
          <a:prstGeom prst="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563970" y="3296412"/>
            <a:ext cx="64008" cy="617219"/>
          </a:xfrm>
          <a:prstGeom prst="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949325" y="3090672"/>
            <a:ext cx="64008" cy="822960"/>
          </a:xfrm>
          <a:prstGeom prst="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334679" y="2782062"/>
            <a:ext cx="64008" cy="1131569"/>
          </a:xfrm>
          <a:prstGeom prst="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720033" y="2987802"/>
            <a:ext cx="64008" cy="925830"/>
          </a:xfrm>
          <a:prstGeom prst="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105388" y="2679192"/>
            <a:ext cx="64008" cy="1234440"/>
          </a:xfrm>
          <a:prstGeom prst="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12480" y="4206240"/>
            <a:ext cx="2697480" cy="21945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250" b="1">
                <a:solidFill>
                  <a:srgbClr val="606F7E"/>
                </a:solidFill>
                <a:latin typeface="Microsoft YaHei"/>
              </a:rPr>
              <a:t>适合练习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77072" y="4581144"/>
            <a:ext cx="2377440" cy="9601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200"/>
              </a:spcAft>
              <a:defRPr sz="1250">
                <a:solidFill>
                  <a:srgbClr val="202D3B"/>
                </a:solidFill>
                <a:latin typeface="Microsoft YaHei"/>
              </a:defRPr>
            </a:pPr>
            <a:r>
              <a:t>利率敏感</a:t>
            </a:r>
          </a:p>
          <a:p>
            <a:pPr marL="171450" indent="-114300">
              <a:spcAft>
                <a:spcPts val="200"/>
              </a:spcAft>
              <a:defRPr sz="1250">
                <a:solidFill>
                  <a:srgbClr val="202D3B"/>
                </a:solidFill>
                <a:latin typeface="Microsoft YaHei"/>
              </a:defRPr>
            </a:pPr>
            <a:r>
              <a:t>高股息关注</a:t>
            </a:r>
          </a:p>
          <a:p>
            <a:pPr marL="171450" indent="-114300">
              <a:spcAft>
                <a:spcPts val="200"/>
              </a:spcAft>
              <a:defRPr sz="1250">
                <a:solidFill>
                  <a:srgbClr val="202D3B"/>
                </a:solidFill>
                <a:latin typeface="Microsoft YaHei"/>
              </a:defRPr>
            </a:pPr>
            <a:r>
              <a:t>适合讲宏观影响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美股案例：1股起更灵活，但波动和时差更要管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案例图解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讲师提示：Apple、NVIDIA、Tesla用于展示美股权重股、AI成长股和高波动成长股。 小走势图为教学示意，非真实历史价格。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234440"/>
            <a:ext cx="3383280" cy="48006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90472"/>
            <a:ext cx="20116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202D3B"/>
                </a:solidFill>
                <a:latin typeface="Microsoft YaHei"/>
              </a:rPr>
              <a:t>Apple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545336"/>
            <a:ext cx="777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06F7E"/>
                </a:solidFill>
                <a:latin typeface="Microsoft YaHei"/>
              </a:rPr>
              <a:t>AAPL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1984248"/>
            <a:ext cx="1234440" cy="292608"/>
          </a:xfrm>
          <a:prstGeom prst="roundRect">
            <a:avLst/>
          </a:prstGeom>
          <a:solidFill>
            <a:srgbClr val="5A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29968"/>
            <a:ext cx="123444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消费电子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978407" y="3718720"/>
            <a:ext cx="385355" cy="194912"/>
          </a:xfrm>
          <a:prstGeom prst="line">
            <a:avLst/>
          </a:prstGeom>
          <a:ln w="26670">
            <a:solidFill>
              <a:srgbClr val="5A6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63762" y="3523808"/>
            <a:ext cx="385354" cy="194912"/>
          </a:xfrm>
          <a:prstGeom prst="line">
            <a:avLst/>
          </a:prstGeom>
          <a:ln w="26670">
            <a:solidFill>
              <a:srgbClr val="5A6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49116" y="3393867"/>
            <a:ext cx="385354" cy="129941"/>
          </a:xfrm>
          <a:prstGeom prst="line">
            <a:avLst/>
          </a:prstGeom>
          <a:ln w="26670">
            <a:solidFill>
              <a:srgbClr val="5A6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134470" y="3133985"/>
            <a:ext cx="385355" cy="259882"/>
          </a:xfrm>
          <a:prstGeom prst="line">
            <a:avLst/>
          </a:prstGeom>
          <a:ln w="26670">
            <a:solidFill>
              <a:srgbClr val="5A6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519825" y="3133985"/>
            <a:ext cx="385354" cy="129941"/>
          </a:xfrm>
          <a:prstGeom prst="line">
            <a:avLst/>
          </a:prstGeom>
          <a:ln w="26670">
            <a:solidFill>
              <a:srgbClr val="5A6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905179" y="2874103"/>
            <a:ext cx="385354" cy="389823"/>
          </a:xfrm>
          <a:prstGeom prst="line">
            <a:avLst/>
          </a:prstGeom>
          <a:ln w="26670">
            <a:solidFill>
              <a:srgbClr val="5A6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290533" y="2679192"/>
            <a:ext cx="385354" cy="194911"/>
          </a:xfrm>
          <a:prstGeom prst="line">
            <a:avLst/>
          </a:prstGeom>
          <a:ln w="26670">
            <a:solidFill>
              <a:srgbClr val="5A6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46403" y="3913632"/>
            <a:ext cx="64008" cy="0"/>
          </a:xfrm>
          <a:prstGeom prst="rect">
            <a:avLst/>
          </a:prstGeom>
          <a:solidFill>
            <a:srgbClr val="5A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1758" y="3718720"/>
            <a:ext cx="64008" cy="194911"/>
          </a:xfrm>
          <a:prstGeom prst="rect">
            <a:avLst/>
          </a:prstGeom>
          <a:solidFill>
            <a:srgbClr val="5A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17112" y="3523808"/>
            <a:ext cx="64008" cy="389823"/>
          </a:xfrm>
          <a:prstGeom prst="rect">
            <a:avLst/>
          </a:prstGeom>
          <a:solidFill>
            <a:srgbClr val="5A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02466" y="3393867"/>
            <a:ext cx="64008" cy="519764"/>
          </a:xfrm>
          <a:prstGeom prst="rect">
            <a:avLst/>
          </a:prstGeom>
          <a:solidFill>
            <a:srgbClr val="5A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87821" y="3133985"/>
            <a:ext cx="64008" cy="779646"/>
          </a:xfrm>
          <a:prstGeom prst="rect">
            <a:avLst/>
          </a:prstGeom>
          <a:solidFill>
            <a:srgbClr val="5A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73175" y="3263926"/>
            <a:ext cx="64008" cy="649705"/>
          </a:xfrm>
          <a:prstGeom prst="rect">
            <a:avLst/>
          </a:prstGeom>
          <a:solidFill>
            <a:srgbClr val="5A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58529" y="2874103"/>
            <a:ext cx="64008" cy="1039528"/>
          </a:xfrm>
          <a:prstGeom prst="rect">
            <a:avLst/>
          </a:prstGeom>
          <a:solidFill>
            <a:srgbClr val="5A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43883" y="2679192"/>
            <a:ext cx="64008" cy="1234440"/>
          </a:xfrm>
          <a:prstGeom prst="rect">
            <a:avLst/>
          </a:prstGeom>
          <a:solidFill>
            <a:srgbClr val="5A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4206240"/>
            <a:ext cx="2697480" cy="21945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250" b="1">
                <a:solidFill>
                  <a:srgbClr val="606F7E"/>
                </a:solidFill>
                <a:latin typeface="Microsoft YaHei"/>
              </a:rPr>
              <a:t>适合练习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4581144"/>
            <a:ext cx="2377440" cy="9601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200"/>
              </a:spcAft>
              <a:defRPr sz="1250">
                <a:solidFill>
                  <a:srgbClr val="202D3B"/>
                </a:solidFill>
                <a:latin typeface="Microsoft YaHei"/>
              </a:defRPr>
            </a:pPr>
            <a:r>
              <a:t>全球龙头</a:t>
            </a:r>
          </a:p>
          <a:p>
            <a:pPr marL="171450" indent="-114300">
              <a:spcAft>
                <a:spcPts val="200"/>
              </a:spcAft>
              <a:defRPr sz="1250">
                <a:solidFill>
                  <a:srgbClr val="202D3B"/>
                </a:solidFill>
                <a:latin typeface="Microsoft YaHei"/>
              </a:defRPr>
            </a:pPr>
            <a:r>
              <a:t>回购/生态</a:t>
            </a:r>
          </a:p>
          <a:p>
            <a:pPr marL="171450" indent="-114300">
              <a:spcAft>
                <a:spcPts val="200"/>
              </a:spcAft>
              <a:defRPr sz="1250">
                <a:solidFill>
                  <a:srgbClr val="202D3B"/>
                </a:solidFill>
                <a:latin typeface="Microsoft YaHei"/>
              </a:defRPr>
            </a:pPr>
            <a:r>
              <a:t>适合讲大盘权重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1234440"/>
            <a:ext cx="3383280" cy="48006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45152" y="1490472"/>
            <a:ext cx="20116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202D3B"/>
                </a:solidFill>
                <a:latin typeface="Microsoft YaHei"/>
              </a:rPr>
              <a:t>NVIDIA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56831" y="1545336"/>
            <a:ext cx="777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06F7E"/>
                </a:solidFill>
                <a:latin typeface="Microsoft YaHei"/>
              </a:rPr>
              <a:t>NVDA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45152" y="1984248"/>
            <a:ext cx="1234440" cy="292608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45152" y="2029968"/>
            <a:ext cx="123444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AI芯片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4709159" y="3838054"/>
            <a:ext cx="385355" cy="75578"/>
          </a:xfrm>
          <a:prstGeom prst="line">
            <a:avLst/>
          </a:prstGeom>
          <a:ln w="2667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094514" y="3686898"/>
            <a:ext cx="385354" cy="151156"/>
          </a:xfrm>
          <a:prstGeom prst="line">
            <a:avLst/>
          </a:prstGeom>
          <a:ln w="2667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479868" y="3485356"/>
            <a:ext cx="385354" cy="201542"/>
          </a:xfrm>
          <a:prstGeom prst="line">
            <a:avLst/>
          </a:prstGeom>
          <a:ln w="2667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865222" y="3183045"/>
            <a:ext cx="385355" cy="302311"/>
          </a:xfrm>
          <a:prstGeom prst="line">
            <a:avLst/>
          </a:prstGeom>
          <a:ln w="2667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250577" y="2981503"/>
            <a:ext cx="385354" cy="201542"/>
          </a:xfrm>
          <a:prstGeom prst="line">
            <a:avLst/>
          </a:prstGeom>
          <a:ln w="2667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635931" y="2830347"/>
            <a:ext cx="385354" cy="151156"/>
          </a:xfrm>
          <a:prstGeom prst="line">
            <a:avLst/>
          </a:prstGeom>
          <a:ln w="2667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021285" y="2679192"/>
            <a:ext cx="385355" cy="151155"/>
          </a:xfrm>
          <a:prstGeom prst="line">
            <a:avLst/>
          </a:prstGeom>
          <a:ln w="2667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4677155" y="3913632"/>
            <a:ext cx="64008" cy="0"/>
          </a:xfrm>
          <a:prstGeom prst="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62510" y="3838054"/>
            <a:ext cx="64008" cy="75577"/>
          </a:xfrm>
          <a:prstGeom prst="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47864" y="3686898"/>
            <a:ext cx="64008" cy="226733"/>
          </a:xfrm>
          <a:prstGeom prst="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833218" y="3485356"/>
            <a:ext cx="64008" cy="428275"/>
          </a:xfrm>
          <a:prstGeom prst="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8573" y="3183045"/>
            <a:ext cx="64008" cy="730586"/>
          </a:xfrm>
          <a:prstGeom prst="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03927" y="2981503"/>
            <a:ext cx="64008" cy="932128"/>
          </a:xfrm>
          <a:prstGeom prst="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989281" y="2830347"/>
            <a:ext cx="64008" cy="1083284"/>
          </a:xfrm>
          <a:prstGeom prst="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74636" y="2679192"/>
            <a:ext cx="64008" cy="1234440"/>
          </a:xfrm>
          <a:prstGeom prst="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81728" y="4206240"/>
            <a:ext cx="2697480" cy="21945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250" b="1">
                <a:solidFill>
                  <a:srgbClr val="606F7E"/>
                </a:solidFill>
                <a:latin typeface="Microsoft YaHei"/>
              </a:rPr>
              <a:t>适合练习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46320" y="4581144"/>
            <a:ext cx="2377440" cy="9601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200"/>
              </a:spcAft>
              <a:defRPr sz="1250">
                <a:solidFill>
                  <a:srgbClr val="202D3B"/>
                </a:solidFill>
                <a:latin typeface="Microsoft YaHei"/>
              </a:defRPr>
            </a:pPr>
            <a:r>
              <a:t>高成长</a:t>
            </a:r>
          </a:p>
          <a:p>
            <a:pPr marL="171450" indent="-114300">
              <a:spcAft>
                <a:spcPts val="200"/>
              </a:spcAft>
              <a:defRPr sz="1250">
                <a:solidFill>
                  <a:srgbClr val="202D3B"/>
                </a:solidFill>
                <a:latin typeface="Microsoft YaHei"/>
              </a:defRPr>
            </a:pPr>
            <a:r>
              <a:t>景气周期</a:t>
            </a:r>
          </a:p>
          <a:p>
            <a:pPr marL="171450" indent="-114300">
              <a:spcAft>
                <a:spcPts val="200"/>
              </a:spcAft>
              <a:defRPr sz="1250">
                <a:solidFill>
                  <a:srgbClr val="202D3B"/>
                </a:solidFill>
                <a:latin typeface="Microsoft YaHei"/>
              </a:defRPr>
            </a:pPr>
            <a:r>
              <a:t>适合讲趋势加速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19872" y="1234440"/>
            <a:ext cx="3383280" cy="48006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75904" y="1490472"/>
            <a:ext cx="20116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202D3B"/>
                </a:solidFill>
                <a:latin typeface="Microsoft YaHei"/>
              </a:rPr>
              <a:t>Tesla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87584" y="1545336"/>
            <a:ext cx="777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06F7E"/>
                </a:solidFill>
                <a:latin typeface="Microsoft YaHei"/>
              </a:rPr>
              <a:t>TSLA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75904" y="1984248"/>
            <a:ext cx="1234440" cy="292608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75904" y="2029968"/>
            <a:ext cx="123444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高波动成长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8439912" y="3222345"/>
            <a:ext cx="385354" cy="691287"/>
          </a:xfrm>
          <a:prstGeom prst="line">
            <a:avLst/>
          </a:prstGeom>
          <a:ln w="2667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825266" y="3222345"/>
            <a:ext cx="385354" cy="345643"/>
          </a:xfrm>
          <a:prstGeom prst="line">
            <a:avLst/>
          </a:prstGeom>
          <a:ln w="2667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210620" y="2679192"/>
            <a:ext cx="385354" cy="888796"/>
          </a:xfrm>
          <a:prstGeom prst="line">
            <a:avLst/>
          </a:prstGeom>
          <a:ln w="2667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595974" y="2679192"/>
            <a:ext cx="385355" cy="691286"/>
          </a:xfrm>
          <a:prstGeom prst="line">
            <a:avLst/>
          </a:prstGeom>
          <a:ln w="2667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9981329" y="2926080"/>
            <a:ext cx="385354" cy="444398"/>
          </a:xfrm>
          <a:prstGeom prst="line">
            <a:avLst/>
          </a:prstGeom>
          <a:ln w="2667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366683" y="2926080"/>
            <a:ext cx="385354" cy="691286"/>
          </a:xfrm>
          <a:prstGeom prst="line">
            <a:avLst/>
          </a:prstGeom>
          <a:ln w="2667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0752037" y="3271723"/>
            <a:ext cx="385355" cy="345643"/>
          </a:xfrm>
          <a:prstGeom prst="line">
            <a:avLst/>
          </a:prstGeom>
          <a:ln w="2667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8407908" y="3913632"/>
            <a:ext cx="64008" cy="0"/>
          </a:xfrm>
          <a:prstGeom prst="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793262" y="3222345"/>
            <a:ext cx="64008" cy="691286"/>
          </a:xfrm>
          <a:prstGeom prst="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178616" y="3567988"/>
            <a:ext cx="64008" cy="345643"/>
          </a:xfrm>
          <a:prstGeom prst="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563970" y="2679192"/>
            <a:ext cx="64008" cy="1234440"/>
          </a:xfrm>
          <a:prstGeom prst="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949325" y="3370478"/>
            <a:ext cx="64008" cy="543153"/>
          </a:xfrm>
          <a:prstGeom prst="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334679" y="2926080"/>
            <a:ext cx="64008" cy="987552"/>
          </a:xfrm>
          <a:prstGeom prst="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720033" y="3617366"/>
            <a:ext cx="64008" cy="296265"/>
          </a:xfrm>
          <a:prstGeom prst="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105388" y="3271723"/>
            <a:ext cx="64008" cy="641908"/>
          </a:xfrm>
          <a:prstGeom prst="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12480" y="4206240"/>
            <a:ext cx="2697480" cy="21945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250" b="1">
                <a:solidFill>
                  <a:srgbClr val="606F7E"/>
                </a:solidFill>
                <a:latin typeface="Microsoft YaHei"/>
              </a:rPr>
              <a:t>适合练习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77072" y="4581144"/>
            <a:ext cx="2377440" cy="9601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200"/>
              </a:spcAft>
              <a:defRPr sz="1250">
                <a:solidFill>
                  <a:srgbClr val="202D3B"/>
                </a:solidFill>
                <a:latin typeface="Microsoft YaHei"/>
              </a:defRPr>
            </a:pPr>
            <a:r>
              <a:t>波动大</a:t>
            </a:r>
          </a:p>
          <a:p>
            <a:pPr marL="171450" indent="-114300">
              <a:spcAft>
                <a:spcPts val="200"/>
              </a:spcAft>
              <a:defRPr sz="1250">
                <a:solidFill>
                  <a:srgbClr val="202D3B"/>
                </a:solidFill>
                <a:latin typeface="Microsoft YaHei"/>
              </a:defRPr>
            </a:pPr>
            <a:r>
              <a:t>叙事强</a:t>
            </a:r>
          </a:p>
          <a:p>
            <a:pPr marL="171450" indent="-114300">
              <a:spcAft>
                <a:spcPts val="200"/>
              </a:spcAft>
              <a:defRPr sz="1250">
                <a:solidFill>
                  <a:srgbClr val="202D3B"/>
                </a:solidFill>
                <a:latin typeface="Microsoft YaHei"/>
              </a:defRPr>
            </a:pPr>
            <a:r>
              <a:t>适合讲仓位控制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把股票放进坐标系：先理解类型，再看K线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案例图解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讲师提示：同样一根K线，放在银行股、成长股和互联网平台股上，解释会不同。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43000"/>
            <a:ext cx="10972800" cy="498348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234440" y="5349240"/>
            <a:ext cx="8778240" cy="0"/>
          </a:xfrm>
          <a:prstGeom prst="line">
            <a:avLst/>
          </a:prstGeom>
          <a:ln w="21590">
            <a:solidFill>
              <a:srgbClr val="A7B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34440" y="1737360"/>
            <a:ext cx="0" cy="3611880"/>
          </a:xfrm>
          <a:prstGeom prst="line">
            <a:avLst/>
          </a:prstGeom>
          <a:ln w="21590">
            <a:solidFill>
              <a:srgbClr val="A7B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0" y="5513831"/>
            <a:ext cx="2011680" cy="21945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606F7E"/>
                </a:solidFill>
                <a:latin typeface="Microsoft YaHei"/>
              </a:rPr>
              <a:t>成长/波动更高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1481328"/>
            <a:ext cx="2103120" cy="21945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606F7E"/>
                </a:solidFill>
                <a:latin typeface="Microsoft YaHei"/>
              </a:rPr>
              <a:t>商业稳定性更高</a:t>
            </a:r>
          </a:p>
        </p:txBody>
      </p:sp>
      <p:sp>
        <p:nvSpPr>
          <p:cNvPr id="15" name="Oval 14"/>
          <p:cNvSpPr/>
          <p:nvPr/>
        </p:nvSpPr>
        <p:spPr>
          <a:xfrm>
            <a:off x="4892040" y="3063239"/>
            <a:ext cx="164592" cy="164592"/>
          </a:xfrm>
          <a:prstGeom prst="ellipse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1" y="3017520"/>
            <a:ext cx="11887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02D3B"/>
                </a:solidFill>
                <a:latin typeface="Microsoft YaHei"/>
              </a:rPr>
              <a:t>贵州茅台</a:t>
            </a:r>
          </a:p>
        </p:txBody>
      </p:sp>
      <p:sp>
        <p:nvSpPr>
          <p:cNvPr id="17" name="Oval 16"/>
          <p:cNvSpPr/>
          <p:nvPr/>
        </p:nvSpPr>
        <p:spPr>
          <a:xfrm>
            <a:off x="7452360" y="3794760"/>
            <a:ext cx="164592" cy="164592"/>
          </a:xfrm>
          <a:prstGeom prst="ellipse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6952" y="3749040"/>
            <a:ext cx="11887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02D3B"/>
                </a:solidFill>
                <a:latin typeface="Microsoft YaHei"/>
              </a:rPr>
              <a:t>宁德时代</a:t>
            </a:r>
          </a:p>
        </p:txBody>
      </p:sp>
      <p:sp>
        <p:nvSpPr>
          <p:cNvPr id="19" name="Oval 18"/>
          <p:cNvSpPr/>
          <p:nvPr/>
        </p:nvSpPr>
        <p:spPr>
          <a:xfrm>
            <a:off x="3246120" y="4480560"/>
            <a:ext cx="164592" cy="164592"/>
          </a:xfrm>
          <a:prstGeom prst="ellipse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10712" y="4434840"/>
            <a:ext cx="11887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02D3B"/>
                </a:solidFill>
                <a:latin typeface="Microsoft YaHei"/>
              </a:rPr>
              <a:t>工商银行</a:t>
            </a:r>
          </a:p>
        </p:txBody>
      </p:sp>
      <p:sp>
        <p:nvSpPr>
          <p:cNvPr id="21" name="Oval 20"/>
          <p:cNvSpPr/>
          <p:nvPr/>
        </p:nvSpPr>
        <p:spPr>
          <a:xfrm>
            <a:off x="6080760" y="3657600"/>
            <a:ext cx="164592" cy="164592"/>
          </a:xfrm>
          <a:prstGeom prst="ellipse">
            <a:avLst/>
          </a:prstGeom>
          <a:solidFill>
            <a:srgbClr val="4F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1887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02D3B"/>
                </a:solidFill>
                <a:latin typeface="Microsoft YaHei"/>
              </a:rPr>
              <a:t>腾讯控股</a:t>
            </a:r>
          </a:p>
        </p:txBody>
      </p:sp>
      <p:sp>
        <p:nvSpPr>
          <p:cNvPr id="23" name="Oval 22"/>
          <p:cNvSpPr/>
          <p:nvPr/>
        </p:nvSpPr>
        <p:spPr>
          <a:xfrm>
            <a:off x="6537960" y="4251960"/>
            <a:ext cx="164592" cy="164592"/>
          </a:xfrm>
          <a:prstGeom prst="ellipse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2" y="4206240"/>
            <a:ext cx="11887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02D3B"/>
                </a:solidFill>
                <a:latin typeface="Microsoft YaHei"/>
              </a:rPr>
              <a:t>阿里巴巴-W</a:t>
            </a:r>
          </a:p>
        </p:txBody>
      </p:sp>
      <p:sp>
        <p:nvSpPr>
          <p:cNvPr id="25" name="Oval 24"/>
          <p:cNvSpPr/>
          <p:nvPr/>
        </p:nvSpPr>
        <p:spPr>
          <a:xfrm>
            <a:off x="3749039" y="4160520"/>
            <a:ext cx="164592" cy="164592"/>
          </a:xfrm>
          <a:prstGeom prst="ellipse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13631" y="4114800"/>
            <a:ext cx="11887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02D3B"/>
                </a:solidFill>
                <a:latin typeface="Microsoft YaHei"/>
              </a:rPr>
              <a:t>汇丰控股</a:t>
            </a:r>
          </a:p>
        </p:txBody>
      </p:sp>
      <p:sp>
        <p:nvSpPr>
          <p:cNvPr id="27" name="Oval 26"/>
          <p:cNvSpPr/>
          <p:nvPr/>
        </p:nvSpPr>
        <p:spPr>
          <a:xfrm>
            <a:off x="5257800" y="3246120"/>
            <a:ext cx="164592" cy="164592"/>
          </a:xfrm>
          <a:prstGeom prst="ellipse">
            <a:avLst/>
          </a:prstGeom>
          <a:solidFill>
            <a:srgbClr val="5A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22392" y="3200400"/>
            <a:ext cx="11887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02D3B"/>
                </a:solidFill>
                <a:latin typeface="Microsoft YaHei"/>
              </a:rPr>
              <a:t>Apple</a:t>
            </a:r>
          </a:p>
        </p:txBody>
      </p:sp>
      <p:sp>
        <p:nvSpPr>
          <p:cNvPr id="29" name="Oval 28"/>
          <p:cNvSpPr/>
          <p:nvPr/>
        </p:nvSpPr>
        <p:spPr>
          <a:xfrm>
            <a:off x="8823960" y="3246120"/>
            <a:ext cx="164592" cy="164592"/>
          </a:xfrm>
          <a:prstGeom prst="ellipse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88552" y="3200400"/>
            <a:ext cx="11887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02D3B"/>
                </a:solidFill>
                <a:latin typeface="Microsoft YaHei"/>
              </a:rPr>
              <a:t>NVIDIA</a:t>
            </a:r>
          </a:p>
        </p:txBody>
      </p:sp>
      <p:sp>
        <p:nvSpPr>
          <p:cNvPr id="31" name="Oval 30"/>
          <p:cNvSpPr/>
          <p:nvPr/>
        </p:nvSpPr>
        <p:spPr>
          <a:xfrm>
            <a:off x="8549640" y="4617720"/>
            <a:ext cx="164592" cy="164592"/>
          </a:xfrm>
          <a:prstGeom prst="ellipse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14232" y="4572000"/>
            <a:ext cx="11887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02D3B"/>
                </a:solidFill>
                <a:latin typeface="Microsoft YaHei"/>
              </a:rPr>
              <a:t>Tesla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2057400"/>
            <a:ext cx="1993392" cy="233172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08592" y="2322576"/>
            <a:ext cx="1554480" cy="23774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202D3B"/>
                </a:solidFill>
                <a:latin typeface="Microsoft YaHei"/>
              </a:rPr>
              <a:t>读图顺序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2743200"/>
            <a:ext cx="1554480" cy="12344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400"/>
              </a:spcAft>
              <a:defRPr sz="1150">
                <a:solidFill>
                  <a:srgbClr val="202D3B"/>
                </a:solidFill>
                <a:latin typeface="Microsoft YaHei"/>
              </a:defRPr>
            </a:pPr>
            <a:r>
              <a:t>先看市场规则</a:t>
            </a:r>
          </a:p>
          <a:p>
            <a:pPr marL="171450" indent="-114300">
              <a:spcAft>
                <a:spcPts val="400"/>
              </a:spcAft>
              <a:defRPr sz="1150">
                <a:solidFill>
                  <a:srgbClr val="202D3B"/>
                </a:solidFill>
                <a:latin typeface="Microsoft YaHei"/>
              </a:defRPr>
            </a:pPr>
            <a:r>
              <a:t>再看行业属性</a:t>
            </a:r>
          </a:p>
          <a:p>
            <a:pPr marL="171450" indent="-114300">
              <a:spcAft>
                <a:spcPts val="400"/>
              </a:spcAft>
              <a:defRPr sz="1150">
                <a:solidFill>
                  <a:srgbClr val="202D3B"/>
                </a:solidFill>
                <a:latin typeface="Microsoft YaHei"/>
              </a:defRPr>
            </a:pPr>
            <a:r>
              <a:t>最后看图形信号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A股交易规则：先分清板块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交易规则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讲师提示：A股不是一个规则完全一致的整体，代码所在板块很关键。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沪深主板、科创板、创业板在涨跌幅、新股交易机制、投资者门槛上存在差异。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常见交易日为周一至周五，法定节假日和交易所公告休市除外。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常见股票交易单位为 100 股及其整数倍，卖出零股有特殊处理。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板块差异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主板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科创板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创业板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风险警示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A股 T+1：今天买入，通常不能当天卖出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交易规则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讲师提示：很多冲动交易的问题，来自忽略 T+1 的退出约束。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A股股票常见交易制度为 T+1：T 日买入，通常 T+1 日才可卖出。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资金层面还要区分可用资金与可取资金，提现通常有额外时间要求。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T 指交易日，不包括周末和休市日。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容易误解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能买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能卖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可用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可取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港股交易规则：没有普通涨跌停，但不是没有风控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交易规则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讲师提示：港股“没有涨跌停”容易被误解为风险更小，实际是波动管理方式不同。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港股普通股票没有类似 A股每日固定涨跌停的制度。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市场设有波动调节机制 VCM，极端波动时可能触发冷静期。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港股通常以港币交易，交易单位由上市公司决定，一手股数不统一。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港股关键词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T+2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港币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一手不同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VCM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美股交易规则：时间长、工具多、波动也更开放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交易规则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讲师提示：盘前盘后看起来更自由，但对新手更考验价格控制。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美股核心交易时段通常为美东 9:30-16:00，另有盘前和盘后交易。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多数美股证券结算已从 2024-05-28 起进入 T+1 周期。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美股通常没有普通日涨跌停，但有大盘熔断和个股波动暂停机制。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美股关键词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T+1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美元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时差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熔断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跨市场投资的额外风险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交易规则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讲师提示：跨市场不是简单多一个账户，而是多一套规则和风险。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汇率会影响最终收益：股价赚钱，不代表换回本币后一定赚钱。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不同市场信息披露语言、财报周期、交易假期都不同。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跨市场交易费用结构更复杂，频繁操作成本更高。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额外变量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汇率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时差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税费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信息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一根K线包含四个价格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K线图入门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讲师提示：先把四个价格讲清，再讲形态。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170432"/>
            <a:ext cx="470916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463040"/>
            <a:ext cx="4160520" cy="44805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8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开盘价：该周期第一笔成交附近的价格。</a:t>
            </a:r>
          </a:p>
          <a:p>
            <a:pPr marL="171450" indent="-114300">
              <a:spcAft>
                <a:spcPts val="8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收盘价：该周期最后成交附近的价格，常被市场最重视。</a:t>
            </a:r>
          </a:p>
          <a:p>
            <a:pPr marL="171450" indent="-114300">
              <a:spcAft>
                <a:spcPts val="8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最高价/最低价：该周期波动范围。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170432"/>
            <a:ext cx="5806440" cy="498348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417320"/>
            <a:ext cx="521208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02D3B"/>
                </a:solidFill>
                <a:latin typeface="Microsoft YaHei"/>
              </a:rPr>
              <a:t>K线示意：看价格区间，也看所在位置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72200" y="5166360"/>
            <a:ext cx="4800600" cy="0"/>
          </a:xfrm>
          <a:prstGeom prst="line">
            <a:avLst/>
          </a:prstGeom>
          <a:ln>
            <a:solidFill>
              <a:srgbClr val="B7C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2290572"/>
            <a:ext cx="0" cy="864108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55664" y="2414016"/>
            <a:ext cx="164592" cy="576072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7064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阳线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96328" y="2249424"/>
            <a:ext cx="0" cy="781812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114032" y="2455164"/>
            <a:ext cx="164592" cy="452628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阴线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54696" y="2208276"/>
            <a:ext cx="0" cy="1028700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772400" y="2743200"/>
            <a:ext cx="16459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十字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13064" y="2167128"/>
            <a:ext cx="0" cy="1069848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430768" y="2290572"/>
            <a:ext cx="164592" cy="864108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大阳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71432" y="2125980"/>
            <a:ext cx="0" cy="1193292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089136" y="2249424"/>
            <a:ext cx="164592" cy="946403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0536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大阴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29800" y="2002536"/>
            <a:ext cx="0" cy="905256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747504" y="2496312"/>
            <a:ext cx="164592" cy="329184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18904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上影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488168" y="2496312"/>
            <a:ext cx="0" cy="1028700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0405872" y="2578608"/>
            <a:ext cx="164592" cy="288036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7272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下影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阳线、阴线与影线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K线图入门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讲师提示：颜色习惯在不同软件可能不同，关键看开收盘关系。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170432"/>
            <a:ext cx="470916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463040"/>
            <a:ext cx="4160520" cy="44805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8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阳线：收盘价高于开盘价，通常表示该周期买方占优。</a:t>
            </a:r>
          </a:p>
          <a:p>
            <a:pPr marL="171450" indent="-114300">
              <a:spcAft>
                <a:spcPts val="8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阴线：收盘价低于开盘价，通常表示该周期卖方占优。</a:t>
            </a:r>
          </a:p>
          <a:p>
            <a:pPr marL="171450" indent="-114300">
              <a:spcAft>
                <a:spcPts val="8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上影线长：上方曾被拉高，但收盘未能维持。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170432"/>
            <a:ext cx="5806440" cy="498348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417320"/>
            <a:ext cx="521208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02D3B"/>
                </a:solidFill>
                <a:latin typeface="Microsoft YaHei"/>
              </a:rPr>
              <a:t>K线示意：看价格区间，也看所在位置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72200" y="5166360"/>
            <a:ext cx="4800600" cy="0"/>
          </a:xfrm>
          <a:prstGeom prst="line">
            <a:avLst/>
          </a:prstGeom>
          <a:ln>
            <a:solidFill>
              <a:srgbClr val="B7C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2290572"/>
            <a:ext cx="0" cy="864108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55664" y="2414016"/>
            <a:ext cx="164592" cy="576072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7064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阳线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96328" y="2249424"/>
            <a:ext cx="0" cy="781812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114032" y="2455164"/>
            <a:ext cx="164592" cy="452628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阴线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54696" y="2208276"/>
            <a:ext cx="0" cy="1028700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772400" y="2743200"/>
            <a:ext cx="16459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十字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13064" y="2167128"/>
            <a:ext cx="0" cy="1069848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430768" y="2290572"/>
            <a:ext cx="164592" cy="864108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大阳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71432" y="2125980"/>
            <a:ext cx="0" cy="1193292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089136" y="2249424"/>
            <a:ext cx="164592" cy="946403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0536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大阴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29800" y="2002536"/>
            <a:ext cx="0" cy="905256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747504" y="2496312"/>
            <a:ext cx="164592" cy="329184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18904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上影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488168" y="2496312"/>
            <a:ext cx="0" cy="1028700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0405872" y="2578608"/>
            <a:ext cx="164592" cy="288036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7272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下影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十字星：代表犹豫，不代表一定反转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K线图入门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讲师提示：技术形态永远要放到位置和趋势里看。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170432"/>
            <a:ext cx="470916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463040"/>
            <a:ext cx="4160520" cy="44805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8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十字星说明开盘价和收盘价接近，多空暂时拉锯。</a:t>
            </a:r>
          </a:p>
          <a:p>
            <a:pPr marL="171450" indent="-114300">
              <a:spcAft>
                <a:spcPts val="8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低位十字星、高位十字星、震荡区十字星的意义不同。</a:t>
            </a:r>
          </a:p>
          <a:p>
            <a:pPr marL="171450" indent="-114300">
              <a:spcAft>
                <a:spcPts val="8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必须结合成交量、前后K线和趋势位置判断。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170432"/>
            <a:ext cx="5806440" cy="498348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417320"/>
            <a:ext cx="521208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02D3B"/>
                </a:solidFill>
                <a:latin typeface="Microsoft YaHei"/>
              </a:rPr>
              <a:t>K线示意：看价格区间，也看所在位置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72200" y="5166360"/>
            <a:ext cx="4800600" cy="0"/>
          </a:xfrm>
          <a:prstGeom prst="line">
            <a:avLst/>
          </a:prstGeom>
          <a:ln>
            <a:solidFill>
              <a:srgbClr val="B7C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2290572"/>
            <a:ext cx="0" cy="864108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55664" y="2414016"/>
            <a:ext cx="164592" cy="576072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7064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阳线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96328" y="2249424"/>
            <a:ext cx="0" cy="781812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114032" y="2455164"/>
            <a:ext cx="164592" cy="452628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阴线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54696" y="2208276"/>
            <a:ext cx="0" cy="1028700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772400" y="2743200"/>
            <a:ext cx="16459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十字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13064" y="2167128"/>
            <a:ext cx="0" cy="1069848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430768" y="2290572"/>
            <a:ext cx="164592" cy="864108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大阳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71432" y="2125980"/>
            <a:ext cx="0" cy="1193292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089136" y="2249424"/>
            <a:ext cx="164592" cy="946403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0536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大阴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29800" y="2002536"/>
            <a:ext cx="0" cy="905256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747504" y="2496312"/>
            <a:ext cx="164592" cy="329184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18904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上影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488168" y="2496312"/>
            <a:ext cx="0" cy="1028700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0405872" y="2578608"/>
            <a:ext cx="164592" cy="288036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7272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下影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大阳线与大阴线：强弱信号也会失真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K线图入门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讲师提示：不要只看线体长度，要看它改变了什么结构。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170432"/>
            <a:ext cx="470916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463040"/>
            <a:ext cx="4160520" cy="44805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8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大阳线通常显示买盘强，但高位大阳也可能是最后冲刺。</a:t>
            </a:r>
          </a:p>
          <a:p>
            <a:pPr marL="171450" indent="-114300">
              <a:spcAft>
                <a:spcPts val="8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大阴线通常显示卖压强，但低位大阴也可能是恐慌释放。</a:t>
            </a:r>
          </a:p>
          <a:p>
            <a:pPr marL="171450" indent="-114300">
              <a:spcAft>
                <a:spcPts val="8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同一根K线，在不同市场环境下含义不同。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170432"/>
            <a:ext cx="5806440" cy="498348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417320"/>
            <a:ext cx="521208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02D3B"/>
                </a:solidFill>
                <a:latin typeface="Microsoft YaHei"/>
              </a:rPr>
              <a:t>K线示意：看价格区间，也看所在位置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72200" y="5166360"/>
            <a:ext cx="4800600" cy="0"/>
          </a:xfrm>
          <a:prstGeom prst="line">
            <a:avLst/>
          </a:prstGeom>
          <a:ln>
            <a:solidFill>
              <a:srgbClr val="B7C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2290572"/>
            <a:ext cx="0" cy="864108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55664" y="2414016"/>
            <a:ext cx="164592" cy="576072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7064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阳线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96328" y="2249424"/>
            <a:ext cx="0" cy="781812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114032" y="2455164"/>
            <a:ext cx="164592" cy="452628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阴线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54696" y="2208276"/>
            <a:ext cx="0" cy="1028700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772400" y="2743200"/>
            <a:ext cx="16459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十字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13064" y="2167128"/>
            <a:ext cx="0" cy="1069848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430768" y="2290572"/>
            <a:ext cx="164592" cy="864108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大阳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71432" y="2125980"/>
            <a:ext cx="0" cy="1193292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089136" y="2249424"/>
            <a:ext cx="164592" cy="946403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0536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大阴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29800" y="2002536"/>
            <a:ext cx="0" cy="905256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747504" y="2496312"/>
            <a:ext cx="164592" cy="329184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18904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上影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488168" y="2496312"/>
            <a:ext cx="0" cy="1028700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0405872" y="2578608"/>
            <a:ext cx="164592" cy="288036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7272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下影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位置比形态更重要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K线图入门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讲师提示：这页是K线部分的重点：形态离开位置会误导新手。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170432"/>
            <a:ext cx="470916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463040"/>
            <a:ext cx="4160520" cy="44805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8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支撑附近的长下影，和高位加速后的长下影，含义可能完全不同。</a:t>
            </a:r>
          </a:p>
          <a:p>
            <a:pPr marL="171450" indent="-114300">
              <a:spcAft>
                <a:spcPts val="8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压力附近的大阳线，若不能放量突破，可能只是冲高回落。</a:t>
            </a:r>
          </a:p>
          <a:p>
            <a:pPr marL="171450" indent="-114300">
              <a:spcAft>
                <a:spcPts val="8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趋势中继形态和顶部/底部形态不能混着用。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170432"/>
            <a:ext cx="5806440" cy="498348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417320"/>
            <a:ext cx="521208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02D3B"/>
                </a:solidFill>
                <a:latin typeface="Microsoft YaHei"/>
              </a:rPr>
              <a:t>K线示意：看价格区间，也看所在位置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72200" y="5166360"/>
            <a:ext cx="4800600" cy="0"/>
          </a:xfrm>
          <a:prstGeom prst="line">
            <a:avLst/>
          </a:prstGeom>
          <a:ln>
            <a:solidFill>
              <a:srgbClr val="B7C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2290572"/>
            <a:ext cx="0" cy="864108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55664" y="2414016"/>
            <a:ext cx="164592" cy="576072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7064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阳线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96328" y="2249424"/>
            <a:ext cx="0" cy="781812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114032" y="2455164"/>
            <a:ext cx="164592" cy="452628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阴线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54696" y="2208276"/>
            <a:ext cx="0" cy="1028700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772400" y="2743200"/>
            <a:ext cx="16459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十字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13064" y="2167128"/>
            <a:ext cx="0" cy="1069848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430768" y="2290572"/>
            <a:ext cx="164592" cy="864108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大阳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71432" y="2125980"/>
            <a:ext cx="0" cy="1193292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089136" y="2249424"/>
            <a:ext cx="164592" cy="946403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0536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大阴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29800" y="2002536"/>
            <a:ext cx="0" cy="905256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747504" y="2496312"/>
            <a:ext cx="164592" cy="329184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18904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上影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488168" y="2496312"/>
            <a:ext cx="0" cy="1028700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0405872" y="2578608"/>
            <a:ext cx="164592" cy="288036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7272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下影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把多根K线连起来看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K线图入门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讲师提示：从单根K线过渡到市场结构。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170432"/>
            <a:ext cx="470916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463040"/>
            <a:ext cx="4160520" cy="44805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8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连续抬高的低点，通常比单日大涨更能说明趋势改善。</a:t>
            </a:r>
          </a:p>
          <a:p>
            <a:pPr marL="171450" indent="-114300">
              <a:spcAft>
                <a:spcPts val="8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连续降低的高点，说明反弹力度可能偏弱。</a:t>
            </a:r>
          </a:p>
          <a:p>
            <a:pPr marL="171450" indent="-114300">
              <a:spcAft>
                <a:spcPts val="8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震荡区内的K线信号成功率较低，容易反复打脸。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170432"/>
            <a:ext cx="5806440" cy="498348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417320"/>
            <a:ext cx="521208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02D3B"/>
                </a:solidFill>
                <a:latin typeface="Microsoft YaHei"/>
              </a:rPr>
              <a:t>K线示意：看价格区间，也看所在位置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72200" y="5166360"/>
            <a:ext cx="4800600" cy="0"/>
          </a:xfrm>
          <a:prstGeom prst="line">
            <a:avLst/>
          </a:prstGeom>
          <a:ln>
            <a:solidFill>
              <a:srgbClr val="B7C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2290572"/>
            <a:ext cx="0" cy="864108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55664" y="2414016"/>
            <a:ext cx="164592" cy="576072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7064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阳线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96328" y="2249424"/>
            <a:ext cx="0" cy="781812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114032" y="2455164"/>
            <a:ext cx="164592" cy="452628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阴线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54696" y="2208276"/>
            <a:ext cx="0" cy="1028700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772400" y="2743200"/>
            <a:ext cx="16459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十字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13064" y="2167128"/>
            <a:ext cx="0" cy="1069848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430768" y="2290572"/>
            <a:ext cx="164592" cy="864108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大阳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71432" y="2125980"/>
            <a:ext cx="0" cy="1193292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089136" y="2249424"/>
            <a:ext cx="164592" cy="946403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0536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大阴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29800" y="2002536"/>
            <a:ext cx="0" cy="905256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747504" y="2496312"/>
            <a:ext cx="164592" cy="329184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18904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上影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488168" y="2496312"/>
            <a:ext cx="0" cy="1028700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0405872" y="2578608"/>
            <a:ext cx="164592" cy="288036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7272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下影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K线常见误区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K线图入门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讲师提示：K线能帮你观察市场，但不能替你承担风险。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170432"/>
            <a:ext cx="470916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463040"/>
            <a:ext cx="4160520" cy="44805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8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误区一：把形态当成确定性预测。</a:t>
            </a:r>
          </a:p>
          <a:p>
            <a:pPr marL="171450" indent="-114300">
              <a:spcAft>
                <a:spcPts val="8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误区二：只看日K，不看大盘、板块和成交量。</a:t>
            </a:r>
          </a:p>
          <a:p>
            <a:pPr marL="171450" indent="-114300">
              <a:spcAft>
                <a:spcPts val="8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误区三：把短周期信号用于长线决策。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170432"/>
            <a:ext cx="5806440" cy="498348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417320"/>
            <a:ext cx="521208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02D3B"/>
                </a:solidFill>
                <a:latin typeface="Microsoft YaHei"/>
              </a:rPr>
              <a:t>K线示意：看价格区间，也看所在位置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72200" y="5166360"/>
            <a:ext cx="4800600" cy="0"/>
          </a:xfrm>
          <a:prstGeom prst="line">
            <a:avLst/>
          </a:prstGeom>
          <a:ln>
            <a:solidFill>
              <a:srgbClr val="B7C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2290572"/>
            <a:ext cx="0" cy="864108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55664" y="2414016"/>
            <a:ext cx="164592" cy="576072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7064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阳线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96328" y="2249424"/>
            <a:ext cx="0" cy="781812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114032" y="2455164"/>
            <a:ext cx="164592" cy="452628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阴线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54696" y="2208276"/>
            <a:ext cx="0" cy="1028700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772400" y="2743200"/>
            <a:ext cx="16459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十字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13064" y="2167128"/>
            <a:ext cx="0" cy="1069848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430768" y="2290572"/>
            <a:ext cx="164592" cy="864108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大阳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71432" y="2125980"/>
            <a:ext cx="0" cy="1193292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089136" y="2249424"/>
            <a:ext cx="164592" cy="946403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0536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大阴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29800" y="2002536"/>
            <a:ext cx="0" cy="905256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747504" y="2496312"/>
            <a:ext cx="164592" cy="329184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18904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上影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488168" y="2496312"/>
            <a:ext cx="0" cy="1028700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0405872" y="2578608"/>
            <a:ext cx="164592" cy="288036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7272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下影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同样看K线，不同股票要问不同问题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案例图解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讲师提示：K线形态只是入口；本页K线为教学示意，非真实历史价格。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097280"/>
            <a:ext cx="10972800" cy="507492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44752"/>
            <a:ext cx="18288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贵州茅台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755648"/>
            <a:ext cx="18288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50" b="1">
                <a:solidFill>
                  <a:srgbClr val="DC4455"/>
                </a:solidFill>
                <a:latin typeface="Microsoft YaHei"/>
              </a:rPr>
              <a:t>消费龙头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63040" y="2468879"/>
            <a:ext cx="0" cy="576073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380744" y="2596896"/>
            <a:ext cx="164592" cy="384048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856232" y="2468879"/>
            <a:ext cx="0" cy="416053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773936" y="2596896"/>
            <a:ext cx="164592" cy="192024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2249424" y="2276856"/>
            <a:ext cx="0" cy="576072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167128" y="2372868"/>
            <a:ext cx="164592" cy="416052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2642616" y="2244851"/>
            <a:ext cx="0" cy="320040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560320" y="2372868"/>
            <a:ext cx="164592" cy="109728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3035808" y="2180844"/>
            <a:ext cx="0" cy="352044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953512" y="2276856"/>
            <a:ext cx="164592" cy="192024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663440"/>
            <a:ext cx="2880360" cy="5669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400" b="0">
                <a:solidFill>
                  <a:srgbClr val="202D3B"/>
                </a:solidFill>
                <a:latin typeface="Microsoft YaHei"/>
              </a:rPr>
              <a:t>更关注长期趋势与估值消化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1444752"/>
            <a:ext cx="18288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腾讯控股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1755648"/>
            <a:ext cx="18288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50" b="1">
                <a:solidFill>
                  <a:srgbClr val="4FBEC6"/>
                </a:solidFill>
                <a:latin typeface="Microsoft YaHei"/>
              </a:rPr>
              <a:t>港股互联网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74920" y="2404872"/>
            <a:ext cx="0" cy="640080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992624" y="2532888"/>
            <a:ext cx="164592" cy="416052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5468112" y="2564891"/>
            <a:ext cx="0" cy="576072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385816" y="2660904"/>
            <a:ext cx="164592" cy="288036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5861304" y="2468879"/>
            <a:ext cx="0" cy="416053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779008" y="2660904"/>
            <a:ext cx="164592" cy="128016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254496" y="2308860"/>
            <a:ext cx="0" cy="640079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172200" y="2372868"/>
            <a:ext cx="164592" cy="416052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647688" y="2212848"/>
            <a:ext cx="0" cy="480060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565392" y="2372868"/>
            <a:ext cx="164592" cy="224028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4663440"/>
            <a:ext cx="2880360" cy="5669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400" b="0">
                <a:solidFill>
                  <a:srgbClr val="202D3B"/>
                </a:solidFill>
                <a:latin typeface="Microsoft YaHei"/>
              </a:rPr>
              <a:t>同时看港股流动性和政策/业绩预期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80" y="1444752"/>
            <a:ext cx="18288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Tesla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1755648"/>
            <a:ext cx="18288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50" b="1">
                <a:solidFill>
                  <a:srgbClr val="17A676"/>
                </a:solidFill>
                <a:latin typeface="Microsoft YaHei"/>
              </a:rPr>
              <a:t>高波动成长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686800" y="2212848"/>
            <a:ext cx="0" cy="992124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8604504" y="2340863"/>
            <a:ext cx="164592" cy="704088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9079992" y="2148839"/>
            <a:ext cx="0" cy="1120141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8997696" y="2340863"/>
            <a:ext cx="164592" cy="768096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9473184" y="2340863"/>
            <a:ext cx="0" cy="832105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9390888" y="2500884"/>
            <a:ext cx="164592" cy="608076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9866376" y="2404872"/>
            <a:ext cx="0" cy="672084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9784080" y="2500884"/>
            <a:ext cx="164592" cy="448056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10259568" y="2116836"/>
            <a:ext cx="0" cy="928116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0177272" y="2244851"/>
            <a:ext cx="164592" cy="704088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83880" y="4663440"/>
            <a:ext cx="2880360" cy="5669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400" b="0">
                <a:solidFill>
                  <a:srgbClr val="202D3B"/>
                </a:solidFill>
                <a:latin typeface="Microsoft YaHei"/>
              </a:rPr>
              <a:t>仓位和止损比形态名字更重要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均线如何帮助判断趋势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均线系统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讲师提示：均线描述的是平均成本与趋势，不是自动买卖按钮。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43000"/>
            <a:ext cx="10972800" cy="498348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371600"/>
            <a:ext cx="658368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02D3B"/>
                </a:solidFill>
                <a:latin typeface="Microsoft YaHei"/>
              </a:rPr>
              <a:t>示意：价格上行，短期均线逐步站上中长期均线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0120" y="1874519"/>
            <a:ext cx="6675120" cy="0"/>
          </a:xfrm>
          <a:prstGeom prst="line">
            <a:avLst/>
          </a:prstGeom>
          <a:ln w="8890">
            <a:solidFill>
              <a:srgbClr val="E0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60120" y="2754629"/>
            <a:ext cx="6675120" cy="0"/>
          </a:xfrm>
          <a:prstGeom prst="line">
            <a:avLst/>
          </a:prstGeom>
          <a:ln w="8890">
            <a:solidFill>
              <a:srgbClr val="E0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60120" y="3634739"/>
            <a:ext cx="6675120" cy="0"/>
          </a:xfrm>
          <a:prstGeom prst="line">
            <a:avLst/>
          </a:prstGeom>
          <a:ln w="8890">
            <a:solidFill>
              <a:srgbClr val="E0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0120" y="4514850"/>
            <a:ext cx="6675120" cy="0"/>
          </a:xfrm>
          <a:prstGeom prst="line">
            <a:avLst/>
          </a:prstGeom>
          <a:ln w="8890">
            <a:solidFill>
              <a:srgbClr val="E0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0120" y="5394960"/>
            <a:ext cx="6675120" cy="0"/>
          </a:xfrm>
          <a:prstGeom prst="line">
            <a:avLst/>
          </a:prstGeom>
          <a:ln w="8890">
            <a:solidFill>
              <a:srgbClr val="E0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60120" y="4943621"/>
            <a:ext cx="513470" cy="90268"/>
          </a:xfrm>
          <a:prstGeom prst="line">
            <a:avLst/>
          </a:prstGeom>
          <a:ln w="31750">
            <a:solidFill>
              <a:srgbClr val="22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73590" y="4672818"/>
            <a:ext cx="513471" cy="361071"/>
          </a:xfrm>
          <a:prstGeom prst="line">
            <a:avLst/>
          </a:prstGeom>
          <a:ln w="31750">
            <a:solidFill>
              <a:srgbClr val="22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987061" y="4672818"/>
            <a:ext cx="513471" cy="90268"/>
          </a:xfrm>
          <a:prstGeom prst="line">
            <a:avLst/>
          </a:prstGeom>
          <a:ln w="31750">
            <a:solidFill>
              <a:srgbClr val="22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500532" y="4311747"/>
            <a:ext cx="513471" cy="451339"/>
          </a:xfrm>
          <a:prstGeom prst="line">
            <a:avLst/>
          </a:prstGeom>
          <a:ln w="31750">
            <a:solidFill>
              <a:srgbClr val="22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014003" y="4040944"/>
            <a:ext cx="513470" cy="270803"/>
          </a:xfrm>
          <a:prstGeom prst="line">
            <a:avLst/>
          </a:prstGeom>
          <a:ln w="31750">
            <a:solidFill>
              <a:srgbClr val="22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527473" y="4040944"/>
            <a:ext cx="513471" cy="180536"/>
          </a:xfrm>
          <a:prstGeom prst="line">
            <a:avLst/>
          </a:prstGeom>
          <a:ln w="31750">
            <a:solidFill>
              <a:srgbClr val="22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040944" y="3589606"/>
            <a:ext cx="513471" cy="631874"/>
          </a:xfrm>
          <a:prstGeom prst="line">
            <a:avLst/>
          </a:prstGeom>
          <a:ln w="31750">
            <a:solidFill>
              <a:srgbClr val="22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554415" y="3228535"/>
            <a:ext cx="513471" cy="361071"/>
          </a:xfrm>
          <a:prstGeom prst="line">
            <a:avLst/>
          </a:prstGeom>
          <a:ln w="31750">
            <a:solidFill>
              <a:srgbClr val="22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67886" y="3228535"/>
            <a:ext cx="513470" cy="180535"/>
          </a:xfrm>
          <a:prstGeom prst="line">
            <a:avLst/>
          </a:prstGeom>
          <a:ln w="31750">
            <a:solidFill>
              <a:srgbClr val="22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581356" y="2777196"/>
            <a:ext cx="513471" cy="631874"/>
          </a:xfrm>
          <a:prstGeom prst="line">
            <a:avLst/>
          </a:prstGeom>
          <a:ln w="31750">
            <a:solidFill>
              <a:srgbClr val="22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094827" y="2416126"/>
            <a:ext cx="513471" cy="361070"/>
          </a:xfrm>
          <a:prstGeom prst="line">
            <a:avLst/>
          </a:prstGeom>
          <a:ln w="31750">
            <a:solidFill>
              <a:srgbClr val="22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608298" y="2416126"/>
            <a:ext cx="513471" cy="270803"/>
          </a:xfrm>
          <a:prstGeom prst="line">
            <a:avLst/>
          </a:prstGeom>
          <a:ln w="31750">
            <a:solidFill>
              <a:srgbClr val="22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121769" y="2055055"/>
            <a:ext cx="513471" cy="631874"/>
          </a:xfrm>
          <a:prstGeom prst="line">
            <a:avLst/>
          </a:prstGeom>
          <a:ln w="31750">
            <a:solidFill>
              <a:srgbClr val="22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60120" y="4925568"/>
            <a:ext cx="513470" cy="63187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473590" y="4853353"/>
            <a:ext cx="513471" cy="72215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987061" y="4672818"/>
            <a:ext cx="513471" cy="180535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500532" y="4564497"/>
            <a:ext cx="513471" cy="108321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014003" y="4356881"/>
            <a:ext cx="513470" cy="207616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527473" y="4266613"/>
            <a:ext cx="513471" cy="90268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040944" y="4040944"/>
            <a:ext cx="513471" cy="225669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554415" y="3815275"/>
            <a:ext cx="513471" cy="225669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067886" y="3634740"/>
            <a:ext cx="513470" cy="180535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581356" y="3363936"/>
            <a:ext cx="513471" cy="270804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094827" y="3093133"/>
            <a:ext cx="513471" cy="270803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608298" y="2885518"/>
            <a:ext cx="513471" cy="207615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121769" y="2551527"/>
            <a:ext cx="513471" cy="333991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60120" y="4745032"/>
            <a:ext cx="513470" cy="18054"/>
          </a:xfrm>
          <a:prstGeom prst="line">
            <a:avLst/>
          </a:prstGeom>
          <a:ln w="2540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473590" y="4708925"/>
            <a:ext cx="513471" cy="36107"/>
          </a:xfrm>
          <a:prstGeom prst="line">
            <a:avLst/>
          </a:prstGeom>
          <a:ln w="2540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987061" y="4654764"/>
            <a:ext cx="513471" cy="54161"/>
          </a:xfrm>
          <a:prstGeom prst="line">
            <a:avLst/>
          </a:prstGeom>
          <a:ln w="2540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500532" y="4582550"/>
            <a:ext cx="513471" cy="72214"/>
          </a:xfrm>
          <a:prstGeom prst="line">
            <a:avLst/>
          </a:prstGeom>
          <a:ln w="2540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014003" y="4474229"/>
            <a:ext cx="513470" cy="108321"/>
          </a:xfrm>
          <a:prstGeom prst="line">
            <a:avLst/>
          </a:prstGeom>
          <a:ln w="2540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527473" y="4356881"/>
            <a:ext cx="513471" cy="117348"/>
          </a:xfrm>
          <a:prstGeom prst="line">
            <a:avLst/>
          </a:prstGeom>
          <a:ln w="2540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040944" y="4221480"/>
            <a:ext cx="513471" cy="135401"/>
          </a:xfrm>
          <a:prstGeom prst="line">
            <a:avLst/>
          </a:prstGeom>
          <a:ln w="2540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554415" y="4058998"/>
            <a:ext cx="513471" cy="162482"/>
          </a:xfrm>
          <a:prstGeom prst="line">
            <a:avLst/>
          </a:prstGeom>
          <a:ln w="2540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067886" y="3905543"/>
            <a:ext cx="513470" cy="153455"/>
          </a:xfrm>
          <a:prstGeom prst="line">
            <a:avLst/>
          </a:prstGeom>
          <a:ln w="2540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581356" y="3725007"/>
            <a:ext cx="513471" cy="180536"/>
          </a:xfrm>
          <a:prstGeom prst="line">
            <a:avLst/>
          </a:prstGeom>
          <a:ln w="2540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094827" y="3499338"/>
            <a:ext cx="513471" cy="225669"/>
          </a:xfrm>
          <a:prstGeom prst="line">
            <a:avLst/>
          </a:prstGeom>
          <a:ln w="2540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608298" y="3300749"/>
            <a:ext cx="513471" cy="198589"/>
          </a:xfrm>
          <a:prstGeom prst="line">
            <a:avLst/>
          </a:prstGeom>
          <a:ln w="2540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121769" y="3048000"/>
            <a:ext cx="513471" cy="252749"/>
          </a:xfrm>
          <a:prstGeom prst="line">
            <a:avLst/>
          </a:prstGeom>
          <a:ln w="2540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005840" y="5504688"/>
            <a:ext cx="62179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606F7E"/>
                </a:solidFill>
                <a:latin typeface="Microsoft YaHei"/>
              </a:rPr>
              <a:t>黑线=价格  红线=短期均线  蓝线=中期均线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01000" y="1828800"/>
            <a:ext cx="3154680" cy="352044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47888" y="2139696"/>
            <a:ext cx="2651760" cy="28346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350">
                <a:solidFill>
                  <a:srgbClr val="202D3B"/>
                </a:solidFill>
                <a:latin typeface="Microsoft YaHei"/>
              </a:defRPr>
            </a:pPr>
            <a:r>
              <a:t>短期均线：反应快，噪声也多</a:t>
            </a:r>
          </a:p>
          <a:p>
            <a:pPr marL="171450" indent="-114300">
              <a:spcAft>
                <a:spcPts val="500"/>
              </a:spcAft>
              <a:defRPr sz="1350">
                <a:solidFill>
                  <a:srgbClr val="202D3B"/>
                </a:solidFill>
                <a:latin typeface="Microsoft YaHei"/>
              </a:defRPr>
            </a:pPr>
            <a:r>
              <a:t>中期均线：适合观察一段趋势</a:t>
            </a:r>
          </a:p>
          <a:p>
            <a:pPr marL="171450" indent="-114300">
              <a:spcAft>
                <a:spcPts val="500"/>
              </a:spcAft>
              <a:defRPr sz="1350">
                <a:solidFill>
                  <a:srgbClr val="202D3B"/>
                </a:solidFill>
                <a:latin typeface="Microsoft YaHei"/>
              </a:defRPr>
            </a:pPr>
            <a:r>
              <a:t>长期均线：更像市场大方向</a:t>
            </a:r>
          </a:p>
          <a:p>
            <a:pPr marL="171450" indent="-114300">
              <a:spcAft>
                <a:spcPts val="500"/>
              </a:spcAft>
              <a:defRPr sz="1350">
                <a:solidFill>
                  <a:srgbClr val="202D3B"/>
                </a:solidFill>
                <a:latin typeface="Microsoft YaHei"/>
              </a:defRPr>
            </a:pPr>
            <a:r>
              <a:t>跌破均线不等于立刻卖，需结合成交量和计划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常用均线怎么分工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均线系统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讲师提示：均线周期没有神秘性，本质是不同时间长度的平均成本。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5日、10日：偏短线，反应快，容易受情绪波动影响。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20日：常被视作月度节奏线，适合观察中短期趋势。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60日：常用于观察中期趋势和阶段成本。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周期分工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短期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中期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长期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大方向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金叉、死叉与均线排列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均线系统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讲师提示：金叉死叉是滞后信号，不能脱离位置和成交量。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金叉：短期均线上穿长期均线，常被视为趋势改善信号。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死叉：短期均线下穿长期均线，常被视为趋势转弱信号。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多头排列：短中长期均线由上到下排列，说明趋势较强。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信号类型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金叉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死叉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多头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空头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均线什么时候容易失效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均线系统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讲师提示：所有指标都有使用环境，均线也不例外。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横盘震荡中，均线会频繁缠绕，金叉死叉容易反复失真。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突发消息或财报冲击时，价格可能直接跳空越过均线。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强趋势末端，均线仍可能看起来很好，但风险已经累积。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失效环境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震荡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跳空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末端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单指标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量价关系：先看参与度，再看方向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成交量与指标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讲师提示：成交量不能预测一切，但能帮助判断价格变化是否有资金参与。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10972800" cy="498348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143000" y="3707891"/>
            <a:ext cx="5669280" cy="0"/>
          </a:xfrm>
          <a:prstGeom prst="line">
            <a:avLst/>
          </a:prstGeom>
          <a:ln w="19050">
            <a:solidFill>
              <a:srgbClr val="9EB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977639" y="1627632"/>
            <a:ext cx="0" cy="4160520"/>
          </a:xfrm>
          <a:prstGeom prst="line">
            <a:avLst/>
          </a:prstGeom>
          <a:ln w="19050">
            <a:solidFill>
              <a:srgbClr val="9EB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06240" y="2039112"/>
            <a:ext cx="21031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DC4455"/>
                </a:solidFill>
                <a:latin typeface="Microsoft YaHei"/>
              </a:rPr>
              <a:t>放量上涨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386584"/>
            <a:ext cx="2148840" cy="6858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202D3B"/>
                </a:solidFill>
                <a:latin typeface="Microsoft YaHei"/>
              </a:rPr>
              <a:t>突破有效性提高，但要防高位诱多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039112"/>
            <a:ext cx="21031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E8B145"/>
                </a:solidFill>
                <a:latin typeface="Microsoft YaHei"/>
              </a:rPr>
              <a:t>缩量上涨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386584"/>
            <a:ext cx="2148840" cy="6858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202D3B"/>
                </a:solidFill>
                <a:latin typeface="Microsoft YaHei"/>
              </a:rPr>
              <a:t>上涨动能可能不足，适合观察持续性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142232"/>
            <a:ext cx="21031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17A676"/>
                </a:solidFill>
                <a:latin typeface="Microsoft YaHei"/>
              </a:rPr>
              <a:t>放量下跌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489704"/>
            <a:ext cx="2148840" cy="6858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202D3B"/>
                </a:solidFill>
                <a:latin typeface="Microsoft YaHei"/>
              </a:rPr>
              <a:t>卖压明显，先控制风险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42232"/>
            <a:ext cx="21031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468ED6"/>
                </a:solidFill>
                <a:latin typeface="Microsoft YaHei"/>
              </a:rPr>
              <a:t>缩量下跌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489704"/>
            <a:ext cx="2148840" cy="6858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202D3B"/>
                </a:solidFill>
                <a:latin typeface="Microsoft YaHei"/>
              </a:rPr>
              <a:t>恐慌减弱或无人接力，需看位置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1353312"/>
            <a:ext cx="137160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50" b="0">
                <a:solidFill>
                  <a:srgbClr val="606F7E"/>
                </a:solidFill>
                <a:latin typeface="Microsoft YaHei"/>
              </a:rPr>
              <a:t>价格上涨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843016"/>
            <a:ext cx="137160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50" b="0">
                <a:solidFill>
                  <a:srgbClr val="606F7E"/>
                </a:solidFill>
                <a:latin typeface="Microsoft YaHei"/>
              </a:rPr>
              <a:t>价格下跌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483863"/>
            <a:ext cx="128016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50" b="0">
                <a:solidFill>
                  <a:srgbClr val="606F7E"/>
                </a:solidFill>
                <a:latin typeface="Microsoft YaHei"/>
              </a:rPr>
              <a:t>缩量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3483863"/>
            <a:ext cx="128016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50" b="0">
                <a:solidFill>
                  <a:srgbClr val="606F7E"/>
                </a:solidFill>
                <a:latin typeface="Microsoft YaHei"/>
              </a:rPr>
              <a:t>放量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1664208"/>
            <a:ext cx="3566160" cy="379476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79" y="1938528"/>
            <a:ext cx="292608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02D3B"/>
                </a:solidFill>
                <a:latin typeface="Microsoft YaHei"/>
              </a:rPr>
              <a:t>新手读量的三个问题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2487168"/>
            <a:ext cx="2834640" cy="23774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400">
                <a:solidFill>
                  <a:srgbClr val="202D3B"/>
                </a:solidFill>
                <a:latin typeface="Microsoft YaHei"/>
              </a:defRPr>
            </a:pPr>
            <a:r>
              <a:t>今天的量比过去一段时间大还是小？</a:t>
            </a:r>
          </a:p>
          <a:p>
            <a:pPr marL="171450" indent="-114300">
              <a:spcAft>
                <a:spcPts val="500"/>
              </a:spcAft>
              <a:defRPr sz="1400">
                <a:solidFill>
                  <a:srgbClr val="202D3B"/>
                </a:solidFill>
                <a:latin typeface="Microsoft YaHei"/>
              </a:defRPr>
            </a:pPr>
            <a:r>
              <a:t>放量发生在突破、下跌还是高位震荡？</a:t>
            </a:r>
          </a:p>
          <a:p>
            <a:pPr marL="171450" indent="-114300">
              <a:spcAft>
                <a:spcPts val="500"/>
              </a:spcAft>
              <a:defRPr sz="1400">
                <a:solidFill>
                  <a:srgbClr val="202D3B"/>
                </a:solidFill>
                <a:latin typeface="Microsoft YaHei"/>
              </a:defRPr>
            </a:pPr>
            <a:r>
              <a:t>量能变化是否支持你的交易计划？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MACD：看趋势变化，不看神秘符号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成交量与指标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讲师提示：讲指标时要一直强调：信号不是指令。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MACD 常用于观察趋势动能变化，包括快慢线、柱状图和零轴。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金叉、死叉只是提示趋势可能变化，不代表一定买卖。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背离可以提示风险，但背离可能持续很久。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MACD看什么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趋势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动能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零轴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背离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RSI、KDJ、布林线：辅助判断强弱和波动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成交量与指标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讲师提示：不要把屏幕塞满指标，反而看不见价格本身。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RSI 常用于观察相对强弱，超买超卖不等于马上反转。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KDJ 更敏感，短线提示多，但假信号也多。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布林线观察价格相对波动区间，上轨下轨不是机械买卖点。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指标定位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强弱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敏感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波动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辅助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买入前检查清单：先写计划，再按计划交易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交易框架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讲师提示：交易纪律的价值，是让你在情绪最强时仍有一套可执行流程。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10972800" cy="498348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057400"/>
            <a:ext cx="1783080" cy="1078992"/>
          </a:xfrm>
          <a:prstGeom prst="roundRect">
            <a:avLst>
              <a:gd name="adj" fmla="val 10000"/>
            </a:avLst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7" y="2258568"/>
            <a:ext cx="155448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看规则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7" y="2624328"/>
            <a:ext cx="155448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市场/交易单位/费用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79191" y="2432304"/>
            <a:ext cx="292608" cy="310896"/>
          </a:xfrm>
          <a:prstGeom prst="rightArrow">
            <a:avLst/>
          </a:prstGeom>
          <a:solidFill>
            <a:srgbClr val="9EB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20" y="2057400"/>
            <a:ext cx="1783080" cy="1078992"/>
          </a:xfrm>
          <a:prstGeom prst="roundRect">
            <a:avLst>
              <a:gd name="adj" fmla="val 10000"/>
            </a:avLst>
          </a:prstGeom>
          <a:solidFill>
            <a:srgbClr val="4F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27248" y="2258568"/>
            <a:ext cx="155448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看趋势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2624328"/>
            <a:ext cx="155448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指数与板块环境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28031" y="2432304"/>
            <a:ext cx="292608" cy="310896"/>
          </a:xfrm>
          <a:prstGeom prst="rightArrow">
            <a:avLst/>
          </a:prstGeom>
          <a:solidFill>
            <a:srgbClr val="9EB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66360" y="2057400"/>
            <a:ext cx="1783080" cy="1078992"/>
          </a:xfrm>
          <a:prstGeom prst="roundRect">
            <a:avLst>
              <a:gd name="adj" fmla="val 10000"/>
            </a:avLst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6088" y="2258568"/>
            <a:ext cx="155448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看位置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2624328"/>
            <a:ext cx="155448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支撑、压力、均线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976872" y="2432304"/>
            <a:ext cx="292608" cy="310896"/>
          </a:xfrm>
          <a:prstGeom prst="rightArrow">
            <a:avLst/>
          </a:prstGeom>
          <a:solidFill>
            <a:srgbClr val="9EB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0" y="2057400"/>
            <a:ext cx="1783080" cy="1078992"/>
          </a:xfrm>
          <a:prstGeom prst="roundRect">
            <a:avLst>
              <a:gd name="adj" fmla="val 10000"/>
            </a:avLst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24927" y="2258568"/>
            <a:ext cx="155448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定风险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4927" y="2624328"/>
            <a:ext cx="155448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止损点与仓位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125712" y="2432304"/>
            <a:ext cx="292608" cy="310896"/>
          </a:xfrm>
          <a:prstGeom prst="rightArrow">
            <a:avLst/>
          </a:prstGeom>
          <a:solidFill>
            <a:srgbClr val="9EB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64040" y="2057400"/>
            <a:ext cx="1783080" cy="1078992"/>
          </a:xfrm>
          <a:prstGeom prst="roundRect">
            <a:avLst>
              <a:gd name="adj" fmla="val 10000"/>
            </a:avLst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73767" y="2258568"/>
            <a:ext cx="155448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写复盘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3767" y="2624328"/>
            <a:ext cx="155448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结果与错误类型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840480"/>
            <a:ext cx="9875520" cy="5669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2200" b="1">
                <a:solidFill>
                  <a:srgbClr val="202D3B"/>
                </a:solidFill>
                <a:latin typeface="Microsoft YaHei"/>
              </a:rPr>
              <a:t>核心原则：每一次下单，都要能回答“为什么买、错了怎么办、赚了怎么卖”。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仓位管理：先活下来，再谈提高收益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交易框架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讲师提示：仓位管理是把错误控制在可承受范围内。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不要把一次判断押成满仓，尤其是新手还没有稳定方法时。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单笔亏损上限应提前设定，例如不让一次错误伤到整体账户。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加仓必须有规则，不能因为亏损后想摊低成本就随意加。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仓位原则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分批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上限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不摊平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留现金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止损和止盈：退出比买入更难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交易框架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讲师提示：退出规则要在买入前写好，而不是亏损后再想。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止损不是承认失败，而是承认市场和自己都可能出错。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止损可以按价格、技术位、资金亏损比例或时间来设计。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止盈可以分批，也可以根据趋势破坏来执行。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退出方式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价格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技术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资金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时间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新手最常见的五个坑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交易框架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讲师提示：这页适合讲真实案例，但不要使用具体荐股。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追涨杀跌：情绪驱动下单，买在兴奋点，卖在恐慌点。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亏损加仓：没有计划地摊低成本，扩大单一错误。</a:t>
            </a:r>
          </a:p>
          <a:p>
            <a:pPr marL="171450" indent="-114300">
              <a:spcAft>
                <a:spcPts val="900"/>
              </a:spcAft>
              <a:defRPr sz="2000">
                <a:solidFill>
                  <a:srgbClr val="202D3B"/>
                </a:solidFill>
                <a:latin typeface="Microsoft YaHei"/>
              </a:defRPr>
            </a:pPr>
            <a:r>
              <a:t>只看K线：忽视规则、费用、公告、财报和市场环境。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错误来源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情绪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仓位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信息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方法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8" y="4965192"/>
            <a:ext cx="566928" cy="329184"/>
          </a:xfrm>
          <a:prstGeom prst="roundRect">
            <a:avLst/>
          </a:prstGeom>
          <a:solidFill>
            <a:srgbClr val="4F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73568" y="5010912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4956048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复盘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新手复盘表：把感觉变成证据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交易框架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讲师提示：复盘不是责备自己，而是把模糊经验沉淀成下一次能用的规则。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1207008"/>
          <a:ext cx="470916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965960"/>
                <a:gridCol w="1554480"/>
              </a:tblGrid>
              <a:tr h="8305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2B4B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记录内容</a:t>
                      </a:r>
                    </a:p>
                  </a:txBody>
                  <a:tcPr>
                    <a:solidFill>
                      <a:srgbClr val="2B4B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示例问题</a:t>
                      </a:r>
                    </a:p>
                  </a:txBody>
                  <a:tcPr>
                    <a:solidFill>
                      <a:srgbClr val="2B4B66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买入理由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趋势、形态、基本面、事件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这次买入是不是有明确依据？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风险设定</a:t>
                      </a:r>
                    </a:p>
                  </a:txBody>
                  <a:tcPr marL="45720" marR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止损位、仓位、最大亏损</a:t>
                      </a:r>
                    </a:p>
                  </a:txBody>
                  <a:tcPr marL="45720" marR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若判断错误，亏损是否可承受？</a:t>
                      </a:r>
                    </a:p>
                  </a:txBody>
                  <a:tcPr marL="45720" marR="45720">
                    <a:solidFill>
                      <a:srgbClr val="EEF4F8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卖出理由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止盈、止损、计划变化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卖出是按计划，还是被情绪推着走？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结果归因</a:t>
                      </a:r>
                    </a:p>
                  </a:txBody>
                  <a:tcPr marL="45720" marR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市场、板块、个股、执行</a:t>
                      </a:r>
                    </a:p>
                  </a:txBody>
                  <a:tcPr marL="45720" marR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这次结果和能力有关，还是运气因素？</a:t>
                      </a:r>
                    </a:p>
                  </a:txBody>
                  <a:tcPr marL="45720" marR="45720">
                    <a:solidFill>
                      <a:srgbClr val="EEF4F8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下次改进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保留/删除/调整的规则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下一笔交易具体要改变什么？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总结：新手先建立框架，再追求技巧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结尾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讲师提示：最后再次强调：本课件用于投资者教育，不构成任何投资建议。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10972800" cy="498348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81328"/>
            <a:ext cx="9966960" cy="4114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2400" b="1">
                <a:solidFill>
                  <a:srgbClr val="202D3B"/>
                </a:solidFill>
                <a:latin typeface="Microsoft YaHei"/>
              </a:rPr>
              <a:t>记住这五句话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148840"/>
            <a:ext cx="9326880" cy="26060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700">
                <a:solidFill>
                  <a:srgbClr val="202D3B"/>
                </a:solidFill>
                <a:latin typeface="Microsoft YaHei"/>
              </a:defRPr>
            </a:pPr>
            <a:r>
              <a:t>规则先于策略：不懂交易规则，就不要急着下单。</a:t>
            </a:r>
          </a:p>
          <a:p>
            <a:pPr marL="171450" indent="-114300">
              <a:spcAft>
                <a:spcPts val="500"/>
              </a:spcAft>
              <a:defRPr sz="1700">
                <a:solidFill>
                  <a:srgbClr val="202D3B"/>
                </a:solidFill>
                <a:latin typeface="Microsoft YaHei"/>
              </a:defRPr>
            </a:pPr>
            <a:r>
              <a:t>K线看位置：形态离开趋势和成交量，意义会大幅下降。</a:t>
            </a:r>
          </a:p>
          <a:p>
            <a:pPr marL="171450" indent="-114300">
              <a:spcAft>
                <a:spcPts val="500"/>
              </a:spcAft>
              <a:defRPr sz="1700">
                <a:solidFill>
                  <a:srgbClr val="202D3B"/>
                </a:solidFill>
                <a:latin typeface="Microsoft YaHei"/>
              </a:defRPr>
            </a:pPr>
            <a:r>
              <a:t>指标只辅助：没有任何指标能保证收益。</a:t>
            </a:r>
          </a:p>
          <a:p>
            <a:pPr marL="171450" indent="-114300">
              <a:spcAft>
                <a:spcPts val="500"/>
              </a:spcAft>
              <a:defRPr sz="1700">
                <a:solidFill>
                  <a:srgbClr val="202D3B"/>
                </a:solidFill>
                <a:latin typeface="Microsoft YaHei"/>
              </a:defRPr>
            </a:pPr>
            <a:r>
              <a:t>计划先于情绪：买入前写清理由、止损、仓位和退出。</a:t>
            </a:r>
          </a:p>
          <a:p>
            <a:pPr marL="171450" indent="-114300">
              <a:spcAft>
                <a:spcPts val="500"/>
              </a:spcAft>
              <a:defRPr sz="1700">
                <a:solidFill>
                  <a:srgbClr val="202D3B"/>
                </a:solidFill>
                <a:latin typeface="Microsoft YaHei"/>
              </a:defRPr>
            </a:pPr>
            <a:r>
              <a:t>风险永远第一：本课件不构成投资建议，投资需独立判断并自行承担风险。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532120"/>
            <a:ext cx="978408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606F7E"/>
                </a:solidFill>
                <a:latin typeface="Microsoft YaHei"/>
              </a:rPr>
              <a:t>参考来源：上交所/深交所交易规则，HKEX 交易时段与 VCM 说明，NYSE 交易时段，SEC T+1 结算公告。口径截至 2026-06-12。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