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713232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ED1E0"/>
                </a:solidFill>
                <a:latin typeface="Microsoft YaHei"/>
              </a:rPr>
              <a:t>炒股入门 · 从“买”和“卖”开始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8595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Microsoft YaHei"/>
              </a:rPr>
              <a:t>炒股基础知识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267712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DAE7F0"/>
                </a:solidFill>
                <a:latin typeface="Microsoft YaHei"/>
              </a:rPr>
              <a:t>把股票讲到完全没基础也能听懂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932688"/>
            <a:ext cx="44348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042416"/>
            <a:ext cx="5943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1">
                <a:solidFill>
                  <a:srgbClr val="5B6A78"/>
                </a:solidFill>
                <a:latin typeface="Microsoft YaHei"/>
              </a:rPr>
              <a:t>A股</a:t>
            </a:r>
          </a:p>
        </p:txBody>
      </p:sp>
      <p:pic>
        <p:nvPicPr>
          <p:cNvPr id="9" name="Picture 8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051560"/>
            <a:ext cx="3364992" cy="9875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03720" y="2532888"/>
            <a:ext cx="44348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642616"/>
            <a:ext cx="5943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1">
                <a:solidFill>
                  <a:srgbClr val="5B6A78"/>
                </a:solidFill>
                <a:latin typeface="Microsoft YaHei"/>
              </a:rPr>
              <a:t>港股</a:t>
            </a:r>
          </a:p>
        </p:txBody>
      </p:sp>
      <p:pic>
        <p:nvPicPr>
          <p:cNvPr id="12" name="Picture 11" descr="00700_H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2651760"/>
            <a:ext cx="3364992" cy="9875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03720" y="4133087"/>
            <a:ext cx="44348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4242816"/>
            <a:ext cx="5943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1">
                <a:solidFill>
                  <a:srgbClr val="5B6A78"/>
                </a:solidFill>
                <a:latin typeface="Microsoft YaHei"/>
              </a:rPr>
              <a:t>美股</a:t>
            </a:r>
          </a:p>
        </p:txBody>
      </p:sp>
      <p:pic>
        <p:nvPicPr>
          <p:cNvPr id="15" name="Picture 14" descr="AAP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4251959"/>
            <a:ext cx="3364992" cy="9875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4944" y="5742432"/>
            <a:ext cx="6583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DDBE6"/>
                </a:solidFill>
                <a:latin typeface="Microsoft YaHei"/>
              </a:rPr>
              <a:t>目标：听完知道怎么买、怎么卖、怎么算赚亏、怎么看最基础的图。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股票是什么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股票就是公司的一小份所有权。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买股票 = 买这家公司的一小份。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股价每天会变。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变贵可能赚钱，变便宜可能亏钱。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3200400"/>
            <a:ext cx="1078992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434840"/>
            <a:ext cx="2880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F2D3A"/>
                </a:solidFill>
                <a:latin typeface="Microsoft YaHei"/>
              </a:rPr>
              <a:t>股票就是公司的一小份所有权。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什么叫买入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买入 = 你花钱，把股票买到自己账户里。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你付出现金。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账户里多了股票。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买入价就是你买到的价格。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3200400"/>
            <a:ext cx="1078992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434840"/>
            <a:ext cx="2880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F2D3A"/>
                </a:solidFill>
                <a:latin typeface="Microsoft YaHei"/>
              </a:rPr>
              <a:t>买入 = 你花钱，把股票买到自己账户里。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什么叫卖出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卖出 = 你把股票卖掉，换回现金。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你交出股票。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账户里多了现金。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卖出价就是你卖掉的价格。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18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3200400"/>
            <a:ext cx="1078992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434840"/>
            <a:ext cx="2880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F2D3A"/>
                </a:solidFill>
                <a:latin typeface="Microsoft YaHei"/>
              </a:rPr>
              <a:t>卖出 = 你把股票卖掉，换回现金。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买入、卖出、盈利：用小学数学算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低价买，高价卖，扣掉费用后剩下的才叫盈利。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30632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4687D2"/>
                </a:solidFill>
                <a:latin typeface="Microsoft YaHei"/>
              </a:rPr>
              <a:t>买入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1F2D3A"/>
                </a:solidFill>
                <a:latin typeface="Microsoft YaHei"/>
              </a:rPr>
              <a:t>10 元/股 × 100 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03904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花 1000 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2331720"/>
            <a:ext cx="30632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6517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189C6F"/>
                </a:solidFill>
                <a:latin typeface="Microsoft YaHei"/>
              </a:rPr>
              <a:t>卖出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24612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1F2D3A"/>
                </a:solidFill>
                <a:latin typeface="Microsoft YaHei"/>
              </a:rPr>
              <a:t>12 元/股 × 100 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803904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拿回 1200 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331720"/>
            <a:ext cx="30632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DA4856"/>
                </a:solidFill>
                <a:latin typeface="Microsoft YaHei"/>
              </a:rPr>
              <a:t>盈利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4612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1F2D3A"/>
                </a:solidFill>
                <a:latin typeface="Microsoft YaHei"/>
              </a:rPr>
              <a:t>1200 - 1000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03904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赚 200 元（未扣费）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166360"/>
            <a:ext cx="97840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现实里还要扣手续费、税费、平台费，所以软件里显示的盈利可能比你心算少一点。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亏损：卖得比买得便宜，就亏了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亏损不是软件故障，是卖出价格低于买入成本。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331720"/>
            <a:ext cx="973836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724912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687D2"/>
                </a:solidFill>
                <a:latin typeface="Microsoft YaHei"/>
              </a:rPr>
              <a:t>买入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724912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89C6F"/>
                </a:solidFill>
                <a:latin typeface="Microsoft YaHei"/>
              </a:rPr>
              <a:t>卖出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724912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DA4856"/>
                </a:solidFill>
                <a:latin typeface="Microsoft YaHei"/>
              </a:rPr>
              <a:t>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429000"/>
            <a:ext cx="21945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10 元 × 100 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429000"/>
            <a:ext cx="21945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8 元 × 100 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429000"/>
            <a:ext cx="21945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DA4856"/>
                </a:solidFill>
                <a:latin typeface="Microsoft YaHei"/>
              </a:rPr>
              <a:t>亏 200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230368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新手先记住：亏损不可怕，不知道最多会亏多少才可怕。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账户里最常见的几个词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账户就像钱包 + 仓库：现金在钱包，股票在仓库。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331720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496312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4687D2"/>
                </a:solidFill>
                <a:latin typeface="Microsoft YaHei"/>
              </a:rPr>
              <a:t>现金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0545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还没买股票的钱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331720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496312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9C6F"/>
                </a:solidFill>
                <a:latin typeface="Microsoft YaHei"/>
              </a:rPr>
              <a:t>持仓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50545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你已经买到的股票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2331720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2496312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0A63A"/>
                </a:solidFill>
                <a:latin typeface="Microsoft YaHei"/>
              </a:rPr>
              <a:t>成本价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50545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你买入后的平均价格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749039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3913631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AB2BE"/>
                </a:solidFill>
                <a:latin typeface="Microsoft YaHei"/>
              </a:rPr>
              <a:t>可用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92277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现在能继续买的钱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749039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3913631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DA4856"/>
                </a:solidFill>
                <a:latin typeface="Microsoft YaHei"/>
              </a:rPr>
              <a:t>可取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92277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现在能提现的钱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下单：你必须填四件事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一次下单，就是告诉系统：买/卖什么、多少钱、多少股。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2316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761488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4687D2"/>
                </a:solidFill>
                <a:latin typeface="Microsoft YaHei"/>
              </a:rPr>
              <a:t>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383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F2D3A"/>
                </a:solidFill>
                <a:latin typeface="Microsoft YaHei"/>
              </a:rPr>
              <a:t>买入 or 卖出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42316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761488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3AB2BE"/>
                </a:solidFill>
                <a:latin typeface="Microsoft YaHei"/>
              </a:rPr>
              <a:t>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3383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F2D3A"/>
                </a:solidFill>
                <a:latin typeface="Microsoft YaHei"/>
              </a:rPr>
              <a:t>是哪只股票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42316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2761488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0A63A"/>
                </a:solidFill>
                <a:latin typeface="Microsoft YaHei"/>
              </a:rPr>
              <a:t>价格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3383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F2D3A"/>
                </a:solidFill>
                <a:latin typeface="Microsoft YaHei"/>
              </a:rPr>
              <a:t>你愿意的价格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39" y="242316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1" y="2761488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89C6F"/>
                </a:solidFill>
                <a:latin typeface="Microsoft YaHei"/>
              </a:rPr>
              <a:t>数量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1" y="3383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F2D3A"/>
                </a:solidFill>
                <a:latin typeface="Microsoft YaHei"/>
              </a:rPr>
              <a:t>买/卖多少股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9966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方向填错最危险：想买填成卖，想卖填成买，结果会完全相反。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限价单和市价单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限价单管价格，市价单求速度。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限价单：不到这个价就不成交。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市价单：尽快成交，但价格可能不理想。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新手优先学会用限价单。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E0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3200400"/>
            <a:ext cx="1078992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434840"/>
            <a:ext cx="2880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F2D3A"/>
                </a:solidFill>
                <a:latin typeface="Microsoft YaHei"/>
              </a:rPr>
              <a:t>限价单管价格，市价单求速度。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成交是什么意思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成交 = 真的有人按你的条件买走或卖给你。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下单不等于成交。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价格合适才容易成交。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成交后才会形成持仓或现金变化。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3A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3200400"/>
            <a:ext cx="1078992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434840"/>
            <a:ext cx="2880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F2D3A"/>
                </a:solidFill>
                <a:latin typeface="Microsoft YaHei"/>
              </a:rPr>
              <a:t>成交 = 真的有人按你的条件买走或卖给你。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A股、港股、美股：交易规则不一样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重点分清：交易能不能当天卖，和几天后交收，是两件事。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240280"/>
          <a:ext cx="107899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926080"/>
                <a:gridCol w="2286000"/>
                <a:gridCol w="4526280"/>
              </a:tblGrid>
              <a:tr h="81153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市场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当天买卖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交收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新手提醒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A股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股票通常 T+1</a:t>
                      </a:r>
                    </a:p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当天买入通常不能当天卖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资金/股票交收另有规则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先看板块和涨跌幅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港股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可日内买卖</a:t>
                      </a:r>
                    </a:p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常说 T+0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通常 T+2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一手股数不统一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美股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可日内买卖</a:t>
                      </a:r>
                    </a:p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常说 T+0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多数证券 T+1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频繁日内交易看账户规则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真实行情图长什么样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行情图就是把价格变化画出来。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6400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70448" cy="34930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上面：价格走势。</a:t>
            </a:r>
          </a:p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中间彩线：均线。</a:t>
            </a:r>
          </a:p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下面：成交量。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K线怎么看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一根K线 = 一段时间里的开盘、收盘、最高、最低。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6400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0700_H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70448" cy="34930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实体看开盘和收盘。</a:t>
            </a:r>
          </a:p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影线看最高和最低。</a:t>
            </a:r>
          </a:p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不要只靠一根K线下结论。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均线怎么看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均线 = 过去一段时间的平均价格。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6400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V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70448" cy="34930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短均线：反应快。</a:t>
            </a:r>
          </a:p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长均线：看大方向。</a:t>
            </a:r>
          </a:p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均线是辅助，不是保证。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成交量怎么看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成交量 = 这段时间买卖有多热闹。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6400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00750_S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70448" cy="34930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量大：参与的人多。</a:t>
            </a:r>
          </a:p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量小：交易比较冷。</a:t>
            </a:r>
          </a:p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涨跌都要配合成交量看。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为什么会涨跌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买的人更着急，价格容易涨；卖的人更着急，价格容易跌。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消息会影响情绪。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业绩会影响预期。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资金进出会影响价格。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DA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3200400"/>
            <a:ext cx="1078992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434840"/>
            <a:ext cx="2880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F2D3A"/>
                </a:solidFill>
                <a:latin typeface="Microsoft YaHei"/>
              </a:rPr>
              <a:t>买的人更着急，价格容易涨；卖的人更着急，价格容易跌。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买之前，只问三个问题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不会回答这三个问题，就先别急着买。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5146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78892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为什么买？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246120"/>
            <a:ext cx="26974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因为规则/趋势/价格位置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5146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DA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1" y="278892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错了怎么办？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1" y="3246120"/>
            <a:ext cx="26974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跌到哪里我认错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5146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18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278892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赚了怎么卖？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3246120"/>
            <a:ext cx="26974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涨到哪里分批走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193792"/>
            <a:ext cx="9875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新手最大的进步：从“我感觉会涨”，变成“我有计划，也知道错了怎么办”。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复盘：每次交易都留一条记录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复盘不是写作文，是找出自己哪里做错了。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240280"/>
            <a:ext cx="97383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368296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687D2"/>
                </a:solidFill>
                <a:latin typeface="Microsoft YaHei"/>
              </a:rPr>
              <a:t>买入理由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68296"/>
            <a:ext cx="69494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我为什么买？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3026664"/>
            <a:ext cx="9738360" cy="530352"/>
          </a:xfrm>
          <a:prstGeom prst="roundRect">
            <a:avLst>
              <a:gd name="adj" fmla="val 6000"/>
            </a:avLst>
          </a:prstGeom>
          <a:solidFill>
            <a:srgbClr val="F0F7FB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315468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9C6F"/>
                </a:solidFill>
                <a:latin typeface="Microsoft YaHei"/>
              </a:rPr>
              <a:t>卖出理由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154680"/>
            <a:ext cx="69494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我为什么卖？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813048"/>
            <a:ext cx="97383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3941063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A63A"/>
                </a:solidFill>
                <a:latin typeface="Microsoft YaHei"/>
              </a:rPr>
              <a:t>赚亏结果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941063"/>
            <a:ext cx="69494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赚/亏多少钱？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4599432"/>
            <a:ext cx="9738360" cy="530352"/>
          </a:xfrm>
          <a:prstGeom prst="roundRect">
            <a:avLst>
              <a:gd name="adj" fmla="val 6000"/>
            </a:avLst>
          </a:prstGeom>
          <a:solidFill>
            <a:srgbClr val="F0F7FB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4727448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DA4856"/>
                </a:solidFill>
                <a:latin typeface="Microsoft YaHei"/>
              </a:rPr>
              <a:t>错误记录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727448"/>
            <a:ext cx="69494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是追高、乱加仓，还是没止损？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最后只记住这几句话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先会听懂，再去学习更复杂的技术。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103120"/>
            <a:ext cx="101041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2578608"/>
            <a:ext cx="91440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2000">
                <a:solidFill>
                  <a:srgbClr val="1F2D3A"/>
                </a:solidFill>
                <a:latin typeface="Microsoft YaHei"/>
              </a:defRPr>
            </a:pPr>
            <a:r>
              <a:t>买入 = 花钱换股票。</a:t>
            </a:r>
          </a:p>
          <a:p>
            <a:pPr marL="180000" indent="-105000">
              <a:spcAft>
                <a:spcPts val="1000"/>
              </a:spcAft>
              <a:defRPr sz="2000">
                <a:solidFill>
                  <a:srgbClr val="1F2D3A"/>
                </a:solidFill>
                <a:latin typeface="Microsoft YaHei"/>
              </a:defRPr>
            </a:pPr>
            <a:r>
              <a:t>卖出 = 把股票换回钱。</a:t>
            </a:r>
          </a:p>
          <a:p>
            <a:pPr marL="180000" indent="-105000">
              <a:spcAft>
                <a:spcPts val="1000"/>
              </a:spcAft>
              <a:defRPr sz="2000">
                <a:solidFill>
                  <a:srgbClr val="1F2D3A"/>
                </a:solidFill>
                <a:latin typeface="Microsoft YaHei"/>
              </a:defRPr>
            </a:pPr>
            <a:r>
              <a:t>盈利 = 卖出拿回的钱 &gt; 买入花的钱 + 费用。</a:t>
            </a:r>
          </a:p>
          <a:p>
            <a:pPr marL="180000" indent="-105000">
              <a:spcAft>
                <a:spcPts val="1000"/>
              </a:spcAft>
              <a:defRPr sz="2000">
                <a:solidFill>
                  <a:srgbClr val="1F2D3A"/>
                </a:solidFill>
                <a:latin typeface="Microsoft YaHei"/>
              </a:defRPr>
            </a:pPr>
            <a:r>
              <a:t>港股/美股：当天买了可以当天卖，交收是另一件事。</a:t>
            </a:r>
          </a:p>
          <a:p>
            <a:pPr marL="180000" indent="-105000">
              <a:spcAft>
                <a:spcPts val="1000"/>
              </a:spcAft>
              <a:defRPr sz="2000">
                <a:solidFill>
                  <a:srgbClr val="1F2D3A"/>
                </a:solidFill>
                <a:latin typeface="Microsoft YaHei"/>
              </a:defRPr>
            </a:pPr>
            <a:r>
              <a:t>任何股票案例都不是推荐买入。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