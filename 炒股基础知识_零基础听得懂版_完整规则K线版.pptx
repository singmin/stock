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713232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BED1E0"/>
                </a:solidFill>
                <a:latin typeface="Microsoft YaHei"/>
              </a:rPr>
              <a:t>炒股入门 · 从买卖到K线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85953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Microsoft YaHei"/>
              </a:rPr>
              <a:t>炒股基础知识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267712"/>
            <a:ext cx="80467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>
                <a:solidFill>
                  <a:srgbClr val="DAE7F0"/>
                </a:solidFill>
                <a:latin typeface="Microsoft YaHei"/>
              </a:rPr>
              <a:t>完全零基础也能听懂的规则课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932688"/>
            <a:ext cx="443484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86600" y="1042416"/>
            <a:ext cx="5943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1">
                <a:solidFill>
                  <a:srgbClr val="5B6A78"/>
                </a:solidFill>
                <a:latin typeface="Microsoft YaHei"/>
              </a:rPr>
              <a:t>A股</a:t>
            </a:r>
          </a:p>
        </p:txBody>
      </p:sp>
      <p:pic>
        <p:nvPicPr>
          <p:cNvPr id="9" name="Picture 8" descr="600519_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051560"/>
            <a:ext cx="3364992" cy="98755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903720" y="2532888"/>
            <a:ext cx="443484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2642616"/>
            <a:ext cx="5943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1">
                <a:solidFill>
                  <a:srgbClr val="5B6A78"/>
                </a:solidFill>
                <a:latin typeface="Microsoft YaHei"/>
              </a:rPr>
              <a:t>港股</a:t>
            </a:r>
          </a:p>
        </p:txBody>
      </p:sp>
      <p:pic>
        <p:nvPicPr>
          <p:cNvPr id="12" name="Picture 11" descr="00700_H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79" y="2651760"/>
            <a:ext cx="3364992" cy="98755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903720" y="4133087"/>
            <a:ext cx="443484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4242816"/>
            <a:ext cx="5943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1">
                <a:solidFill>
                  <a:srgbClr val="5B6A78"/>
                </a:solidFill>
                <a:latin typeface="Microsoft YaHei"/>
              </a:rPr>
              <a:t>美股</a:t>
            </a:r>
          </a:p>
        </p:txBody>
      </p:sp>
      <p:pic>
        <p:nvPicPr>
          <p:cNvPr id="15" name="Picture 14" descr="AAP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79" y="4251959"/>
            <a:ext cx="3364992" cy="9875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94944" y="5742432"/>
            <a:ext cx="6583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CDDBE6"/>
                </a:solidFill>
                <a:latin typeface="Microsoft YaHei"/>
              </a:rPr>
              <a:t>目标：会买卖、会算赚亏、懂基本规则、看懂最基础K线。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真实股票和行情图只作教学样本，不构成投资建议。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股票是什么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股票就是公司的一小份所有权。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48840"/>
            <a:ext cx="662940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78608"/>
            <a:ext cx="58978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买股票 = 买这家公司的一小份。</a:t>
            </a:r>
          </a:p>
          <a:p>
            <a:pPr marL="180000" indent="-105000">
              <a:spcAft>
                <a:spcPts val="9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股价每天会变。</a:t>
            </a:r>
          </a:p>
          <a:p>
            <a:pPr marL="180000" indent="-105000">
              <a:spcAft>
                <a:spcPts val="9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变贵可能赚钱，变便宜可能亏钱。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148840"/>
            <a:ext cx="3429000" cy="3566160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15400" y="2834640"/>
            <a:ext cx="1234440" cy="1234440"/>
          </a:xfrm>
          <a:prstGeom prst="ellipse">
            <a:avLst/>
          </a:prstGeom>
          <a:solidFill>
            <a:srgbClr val="468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79408" y="3200400"/>
            <a:ext cx="109728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一句话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4407408"/>
            <a:ext cx="2889504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50" b="1">
                <a:solidFill>
                  <a:srgbClr val="1F2D3A"/>
                </a:solidFill>
                <a:latin typeface="Microsoft YaHei"/>
              </a:rPr>
              <a:t>股票就是公司的一小份所有权。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什么叫买入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买入 = 你花钱，把股票买到自己账户里。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48840"/>
            <a:ext cx="662940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78608"/>
            <a:ext cx="58978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你付出现金。</a:t>
            </a:r>
          </a:p>
          <a:p>
            <a:pPr marL="180000" indent="-105000">
              <a:spcAft>
                <a:spcPts val="9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账户里多了股票。</a:t>
            </a:r>
          </a:p>
          <a:p>
            <a:pPr marL="180000" indent="-105000">
              <a:spcAft>
                <a:spcPts val="9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买入价就是你买到的价格。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148840"/>
            <a:ext cx="3429000" cy="3566160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15400" y="2834640"/>
            <a:ext cx="1234440" cy="1234440"/>
          </a:xfrm>
          <a:prstGeom prst="ellipse">
            <a:avLst/>
          </a:prstGeom>
          <a:solidFill>
            <a:srgbClr val="468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79408" y="3200400"/>
            <a:ext cx="109728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一句话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4407408"/>
            <a:ext cx="2889504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50" b="1">
                <a:solidFill>
                  <a:srgbClr val="1F2D3A"/>
                </a:solidFill>
                <a:latin typeface="Microsoft YaHei"/>
              </a:rPr>
              <a:t>买入 = 你花钱，把股票买到自己账户里。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什么叫卖出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卖出 = 你把股票卖掉，换回现金。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48840"/>
            <a:ext cx="662940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78608"/>
            <a:ext cx="58978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你交出股票。</a:t>
            </a:r>
          </a:p>
          <a:p>
            <a:pPr marL="180000" indent="-105000">
              <a:spcAft>
                <a:spcPts val="9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账户里多了现金。</a:t>
            </a:r>
          </a:p>
          <a:p>
            <a:pPr marL="180000" indent="-105000">
              <a:spcAft>
                <a:spcPts val="9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卖出价就是你卖掉的价格。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148840"/>
            <a:ext cx="3429000" cy="3566160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15400" y="2834640"/>
            <a:ext cx="1234440" cy="1234440"/>
          </a:xfrm>
          <a:prstGeom prst="ellipse">
            <a:avLst/>
          </a:prstGeom>
          <a:solidFill>
            <a:srgbClr val="189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79408" y="3200400"/>
            <a:ext cx="109728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一句话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4407408"/>
            <a:ext cx="2889504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50" b="1">
                <a:solidFill>
                  <a:srgbClr val="1F2D3A"/>
                </a:solidFill>
                <a:latin typeface="Microsoft YaHei"/>
              </a:rPr>
              <a:t>卖出 = 你把股票卖掉，换回现金。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买入、卖出、盈利：用小学数学算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低价买，高价卖，扣掉费用后剩下的才叫盈利。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331720"/>
            <a:ext cx="306324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651760"/>
            <a:ext cx="2606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500" b="1">
                <a:solidFill>
                  <a:srgbClr val="4687D2"/>
                </a:solidFill>
                <a:latin typeface="Microsoft YaHei"/>
              </a:rPr>
              <a:t>买入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46120"/>
            <a:ext cx="26060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0">
                <a:solidFill>
                  <a:srgbClr val="1F2D3A"/>
                </a:solidFill>
                <a:latin typeface="Microsoft YaHei"/>
              </a:rPr>
              <a:t>10元/股 × 100股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03904"/>
            <a:ext cx="2606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F2D3A"/>
                </a:solidFill>
                <a:latin typeface="Microsoft YaHei"/>
              </a:rPr>
              <a:t>花 1000 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2331720"/>
            <a:ext cx="306324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59" y="2651760"/>
            <a:ext cx="2606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500" b="1">
                <a:solidFill>
                  <a:srgbClr val="189C6F"/>
                </a:solidFill>
                <a:latin typeface="Microsoft YaHei"/>
              </a:rPr>
              <a:t>卖出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59" y="3246120"/>
            <a:ext cx="26060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0">
                <a:solidFill>
                  <a:srgbClr val="1F2D3A"/>
                </a:solidFill>
                <a:latin typeface="Microsoft YaHei"/>
              </a:rPr>
              <a:t>12元/股 × 100股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3803904"/>
            <a:ext cx="2606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F2D3A"/>
                </a:solidFill>
                <a:latin typeface="Microsoft YaHei"/>
              </a:rPr>
              <a:t>拿回 1200 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2331720"/>
            <a:ext cx="306324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651760"/>
            <a:ext cx="2606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500" b="1">
                <a:solidFill>
                  <a:srgbClr val="DA4856"/>
                </a:solidFill>
                <a:latin typeface="Microsoft YaHei"/>
              </a:rPr>
              <a:t>盈利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246120"/>
            <a:ext cx="26060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0">
                <a:solidFill>
                  <a:srgbClr val="1F2D3A"/>
                </a:solidFill>
                <a:latin typeface="Microsoft YaHei"/>
              </a:rPr>
              <a:t>1200 - 1000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803904"/>
            <a:ext cx="2606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F2D3A"/>
                </a:solidFill>
                <a:latin typeface="Microsoft YaHei"/>
              </a:rPr>
              <a:t>赚 200 元（未扣费）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166360"/>
            <a:ext cx="978408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真实交易还要扣手续费、税费、平台费，软件里的盈利通常会自动扣掉一部分成本。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亏损：卖得比买得便宜，就亏了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亏损不是软件故障，是卖出价格低于买入成本。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2331720"/>
            <a:ext cx="9738360" cy="2423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91640" y="2724912"/>
            <a:ext cx="219456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4687D2"/>
                </a:solidFill>
                <a:latin typeface="Microsoft YaHei"/>
              </a:rPr>
              <a:t>买入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429000"/>
            <a:ext cx="21945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1F2D3A"/>
                </a:solidFill>
                <a:latin typeface="Microsoft YaHei"/>
              </a:rPr>
              <a:t>10元 × 100股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724912"/>
            <a:ext cx="219456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89C6F"/>
                </a:solidFill>
                <a:latin typeface="Microsoft YaHei"/>
              </a:rPr>
              <a:t>卖出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3429000"/>
            <a:ext cx="21945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1F2D3A"/>
                </a:solidFill>
                <a:latin typeface="Microsoft YaHei"/>
              </a:rPr>
              <a:t>8元 × 100股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79" y="2724912"/>
            <a:ext cx="219456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DA4856"/>
                </a:solidFill>
                <a:latin typeface="Microsoft YaHei"/>
              </a:rPr>
              <a:t>结果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79" y="3429000"/>
            <a:ext cx="21945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DA4856"/>
                </a:solidFill>
                <a:latin typeface="Microsoft YaHei"/>
              </a:rPr>
              <a:t>亏 200 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230368"/>
            <a:ext cx="9601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新手先记住：亏损不可怕，不知道最多会亏多少才可怕。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账户里最常见的几个词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账户就像钱包 + 仓库：现金在钱包，股票在仓库。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331720"/>
            <a:ext cx="31546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496312"/>
            <a:ext cx="82296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4687D2"/>
                </a:solidFill>
                <a:latin typeface="Microsoft YaHei"/>
              </a:rPr>
              <a:t>现金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505456"/>
            <a:ext cx="192024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F2D3A"/>
                </a:solidFill>
                <a:latin typeface="Microsoft YaHei"/>
              </a:rPr>
              <a:t>还没买股票的钱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331720"/>
            <a:ext cx="31546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2496312"/>
            <a:ext cx="82296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9C6F"/>
                </a:solidFill>
                <a:latin typeface="Microsoft YaHei"/>
              </a:rPr>
              <a:t>持仓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2505456"/>
            <a:ext cx="192024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F2D3A"/>
                </a:solidFill>
                <a:latin typeface="Microsoft YaHei"/>
              </a:rPr>
              <a:t>你已经买到的股票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19" y="2331720"/>
            <a:ext cx="31546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1" y="2496312"/>
            <a:ext cx="82296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0A63A"/>
                </a:solidFill>
                <a:latin typeface="Microsoft YaHei"/>
              </a:rPr>
              <a:t>成本价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505456"/>
            <a:ext cx="192024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F2D3A"/>
                </a:solidFill>
                <a:latin typeface="Microsoft YaHei"/>
              </a:rPr>
              <a:t>你买入后的平均价格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3749039"/>
            <a:ext cx="31546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3913631"/>
            <a:ext cx="82296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3AB2BE"/>
                </a:solidFill>
                <a:latin typeface="Microsoft YaHei"/>
              </a:rPr>
              <a:t>可用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922776"/>
            <a:ext cx="192024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F2D3A"/>
                </a:solidFill>
                <a:latin typeface="Microsoft YaHei"/>
              </a:rPr>
              <a:t>现在能继续买的钱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3749039"/>
            <a:ext cx="31546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36592" y="3913631"/>
            <a:ext cx="82296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DA4856"/>
                </a:solidFill>
                <a:latin typeface="Microsoft YaHei"/>
              </a:rPr>
              <a:t>可取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3922776"/>
            <a:ext cx="192024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F2D3A"/>
                </a:solidFill>
                <a:latin typeface="Microsoft YaHei"/>
              </a:rPr>
              <a:t>现在能提现的钱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下单：你必须填四件事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一次下单，就是告诉系统：买/卖什么、多少钱、多少股。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423160"/>
            <a:ext cx="233172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761488"/>
            <a:ext cx="1965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4687D2"/>
                </a:solidFill>
                <a:latin typeface="Microsoft YaHei"/>
              </a:rPr>
              <a:t>方向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3383280"/>
            <a:ext cx="196596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F2D3A"/>
                </a:solidFill>
                <a:latin typeface="Microsoft YaHei"/>
              </a:rPr>
              <a:t>买入 or 卖出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2423160"/>
            <a:ext cx="233172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22191" y="2761488"/>
            <a:ext cx="1965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3AB2BE"/>
                </a:solidFill>
                <a:latin typeface="Microsoft YaHei"/>
              </a:rPr>
              <a:t>代码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2191" y="3383280"/>
            <a:ext cx="196596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F2D3A"/>
                </a:solidFill>
                <a:latin typeface="Microsoft YaHei"/>
              </a:rPr>
              <a:t>是哪只股票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2423160"/>
            <a:ext cx="233172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1112" y="2761488"/>
            <a:ext cx="1965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0A63A"/>
                </a:solidFill>
                <a:latin typeface="Microsoft YaHei"/>
              </a:rPr>
              <a:t>价格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3383280"/>
            <a:ext cx="196596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F2D3A"/>
                </a:solidFill>
                <a:latin typeface="Microsoft YaHei"/>
              </a:rPr>
              <a:t>你愿意的价格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39" y="2423160"/>
            <a:ext cx="233172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00031" y="2761488"/>
            <a:ext cx="1965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189C6F"/>
                </a:solidFill>
                <a:latin typeface="Microsoft YaHei"/>
              </a:rPr>
              <a:t>数量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0031" y="3383280"/>
            <a:ext cx="196596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F2D3A"/>
                </a:solidFill>
                <a:latin typeface="Microsoft YaHei"/>
              </a:rPr>
              <a:t>买/卖多少股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166360"/>
            <a:ext cx="9966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icrosoft YaHei"/>
              </a:rPr>
              <a:t>方向填错最危险：想买填成卖，想卖填成买，结果会完全相反。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限价单和市价单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限价单管价格，市价单求速度。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48840"/>
            <a:ext cx="662940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78608"/>
            <a:ext cx="58978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限价单：不到这个价就不成交。</a:t>
            </a:r>
          </a:p>
          <a:p>
            <a:pPr marL="180000" indent="-105000">
              <a:spcAft>
                <a:spcPts val="9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市价单：尽快成交，但价格可能不理想。</a:t>
            </a:r>
          </a:p>
          <a:p>
            <a:pPr marL="180000" indent="-105000">
              <a:spcAft>
                <a:spcPts val="9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新手优先学会用限价单。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148840"/>
            <a:ext cx="3429000" cy="3566160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15400" y="2834640"/>
            <a:ext cx="1234440" cy="1234440"/>
          </a:xfrm>
          <a:prstGeom prst="ellipse">
            <a:avLst/>
          </a:prstGeom>
          <a:solidFill>
            <a:srgbClr val="E0A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79408" y="3200400"/>
            <a:ext cx="109728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一句话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4407408"/>
            <a:ext cx="2889504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50" b="1">
                <a:solidFill>
                  <a:srgbClr val="1F2D3A"/>
                </a:solidFill>
                <a:latin typeface="Microsoft YaHei"/>
              </a:rPr>
              <a:t>限价单管价格，市价单求速度。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成交：不是你点了买，就一定买得到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成交 = 你的价格和别人愿意交易的价格对上了。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48840"/>
            <a:ext cx="324612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2743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4687D2"/>
                </a:solidFill>
                <a:latin typeface="Microsoft YaHei"/>
              </a:rPr>
              <a:t>你想买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090672"/>
            <a:ext cx="27432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1F2D3A"/>
                </a:solidFill>
                <a:latin typeface="Microsoft YaHei"/>
              </a:rPr>
              <a:t>出价 10 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675887"/>
            <a:ext cx="27432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F2D3A"/>
                </a:solidFill>
                <a:latin typeface="Microsoft YaHei"/>
              </a:rPr>
              <a:t>有人愿意 10 元卖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2148840"/>
            <a:ext cx="324612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59" y="2468880"/>
            <a:ext cx="2743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189C6F"/>
                </a:solidFill>
                <a:latin typeface="Microsoft YaHei"/>
              </a:rPr>
              <a:t>价格对上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59" y="3090672"/>
            <a:ext cx="27432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1F2D3A"/>
                </a:solidFill>
                <a:latin typeface="Microsoft YaHei"/>
              </a:rPr>
              <a:t>买方 + 卖方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3675887"/>
            <a:ext cx="27432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F2D3A"/>
                </a:solidFill>
                <a:latin typeface="Microsoft YaHei"/>
              </a:rPr>
              <a:t>这笔交易才成立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2148840"/>
            <a:ext cx="2971800" cy="2514600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2542032"/>
            <a:ext cx="2423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1600">
                <a:solidFill>
                  <a:srgbClr val="1F2D3A"/>
                </a:solidFill>
                <a:latin typeface="Microsoft YaHei"/>
              </a:defRPr>
            </a:pPr>
            <a:r>
              <a:t>下单 ≠ 成交。</a:t>
            </a:r>
          </a:p>
          <a:p>
            <a:pPr marL="180000" indent="-105000">
              <a:spcAft>
                <a:spcPts val="900"/>
              </a:spcAft>
              <a:defRPr sz="1600">
                <a:solidFill>
                  <a:srgbClr val="1F2D3A"/>
                </a:solidFill>
                <a:latin typeface="Microsoft YaHei"/>
              </a:defRPr>
            </a:pPr>
            <a:r>
              <a:t>没人接，就挂着。</a:t>
            </a:r>
          </a:p>
          <a:p>
            <a:pPr marL="180000" indent="-105000">
              <a:spcAft>
                <a:spcPts val="900"/>
              </a:spcAft>
              <a:defRPr sz="1600">
                <a:solidFill>
                  <a:srgbClr val="1F2D3A"/>
                </a:solidFill>
                <a:latin typeface="Microsoft YaHei"/>
              </a:defRPr>
            </a:pPr>
            <a:r>
              <a:t>成交后才算买到/卖掉。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285232"/>
            <a:ext cx="996696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交易市场不是商店，不是你想买就一定马上有货，想卖就一定马上有人接。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买一卖一、五档盘口：看谁在排队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买一是最高的买价，卖一是最低的卖价。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057400"/>
            <a:ext cx="448056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2331720"/>
            <a:ext cx="384048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189C6F"/>
                </a:solidFill>
                <a:latin typeface="Microsoft YaHei"/>
              </a:rPr>
              <a:t>卖盘：有人想卖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788920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>
                <a:solidFill>
                  <a:srgbClr val="189C6F"/>
                </a:solidFill>
                <a:latin typeface="Microsoft YaHei"/>
              </a:rPr>
              <a:t>卖五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788920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1F2D3A"/>
                </a:solidFill>
                <a:latin typeface="Microsoft YaHei"/>
              </a:rPr>
              <a:t>10.05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788920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50" b="0">
                <a:solidFill>
                  <a:srgbClr val="5B6A78"/>
                </a:solidFill>
                <a:latin typeface="Microsoft YaHei"/>
              </a:rPr>
              <a:t>900股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44952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>
                <a:solidFill>
                  <a:srgbClr val="189C6F"/>
                </a:solidFill>
                <a:latin typeface="Microsoft YaHei"/>
              </a:rPr>
              <a:t>卖四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3044952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1F2D3A"/>
                </a:solidFill>
                <a:latin typeface="Microsoft YaHei"/>
              </a:rPr>
              <a:t>10.04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044952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50" b="0">
                <a:solidFill>
                  <a:srgbClr val="5B6A78"/>
                </a:solidFill>
                <a:latin typeface="Microsoft YaHei"/>
              </a:rPr>
              <a:t>600股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300984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>
                <a:solidFill>
                  <a:srgbClr val="189C6F"/>
                </a:solidFill>
                <a:latin typeface="Microsoft YaHei"/>
              </a:rPr>
              <a:t>卖三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3300984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1F2D3A"/>
                </a:solidFill>
                <a:latin typeface="Microsoft YaHei"/>
              </a:rPr>
              <a:t>10.03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00984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50" b="0">
                <a:solidFill>
                  <a:srgbClr val="5B6A78"/>
                </a:solidFill>
                <a:latin typeface="Microsoft YaHei"/>
              </a:rPr>
              <a:t>800股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557015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>
                <a:solidFill>
                  <a:srgbClr val="189C6F"/>
                </a:solidFill>
                <a:latin typeface="Microsoft YaHei"/>
              </a:rPr>
              <a:t>卖二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160" y="3557015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1F2D3A"/>
                </a:solidFill>
                <a:latin typeface="Microsoft YaHei"/>
              </a:rPr>
              <a:t>10.02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557015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50" b="0">
                <a:solidFill>
                  <a:srgbClr val="5B6A78"/>
                </a:solidFill>
                <a:latin typeface="Microsoft YaHei"/>
              </a:rPr>
              <a:t>500股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813048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>
                <a:solidFill>
                  <a:srgbClr val="189C6F"/>
                </a:solidFill>
                <a:latin typeface="Microsoft YaHei"/>
              </a:rPr>
              <a:t>卖一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3813048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1F2D3A"/>
                </a:solidFill>
                <a:latin typeface="Microsoft YaHei"/>
              </a:rPr>
              <a:t>10.01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813048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50" b="0">
                <a:solidFill>
                  <a:srgbClr val="5B6A78"/>
                </a:solidFill>
                <a:latin typeface="Microsoft YaHei"/>
              </a:rPr>
              <a:t>1200股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224528"/>
            <a:ext cx="384048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DA4856"/>
                </a:solidFill>
                <a:latin typeface="Microsoft YaHei"/>
              </a:rPr>
              <a:t>买盘：有人想买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645152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>
                <a:solidFill>
                  <a:srgbClr val="DA4856"/>
                </a:solidFill>
                <a:latin typeface="Microsoft YaHei"/>
              </a:rPr>
              <a:t>买一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4645152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1F2D3A"/>
                </a:solidFill>
                <a:latin typeface="Microsoft YaHei"/>
              </a:rPr>
              <a:t>10.00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645152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50" b="0">
                <a:solidFill>
                  <a:srgbClr val="5B6A78"/>
                </a:solidFill>
                <a:latin typeface="Microsoft YaHei"/>
              </a:rPr>
              <a:t>1500股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4901184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>
                <a:solidFill>
                  <a:srgbClr val="DA4856"/>
                </a:solidFill>
                <a:latin typeface="Microsoft YaHei"/>
              </a:rPr>
              <a:t>买二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3160" y="4901184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1F2D3A"/>
                </a:solidFill>
                <a:latin typeface="Microsoft YaHei"/>
              </a:rPr>
              <a:t>9.99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4901184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50" b="0">
                <a:solidFill>
                  <a:srgbClr val="5B6A78"/>
                </a:solidFill>
                <a:latin typeface="Microsoft YaHei"/>
              </a:rPr>
              <a:t>700股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5157216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>
                <a:solidFill>
                  <a:srgbClr val="DA4856"/>
                </a:solidFill>
                <a:latin typeface="Microsoft YaHei"/>
              </a:rPr>
              <a:t>买三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23160" y="5157216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1F2D3A"/>
                </a:solidFill>
                <a:latin typeface="Microsoft YaHei"/>
              </a:rPr>
              <a:t>9.98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5157216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50" b="0">
                <a:solidFill>
                  <a:srgbClr val="5B6A78"/>
                </a:solidFill>
                <a:latin typeface="Microsoft YaHei"/>
              </a:rPr>
              <a:t>900股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4440" y="5413248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>
                <a:solidFill>
                  <a:srgbClr val="DA4856"/>
                </a:solidFill>
                <a:latin typeface="Microsoft YaHei"/>
              </a:rPr>
              <a:t>买四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23160" y="5413248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1F2D3A"/>
                </a:solidFill>
                <a:latin typeface="Microsoft YaHei"/>
              </a:rPr>
              <a:t>9.97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5413248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50" b="0">
                <a:solidFill>
                  <a:srgbClr val="5B6A78"/>
                </a:solidFill>
                <a:latin typeface="Microsoft YaHei"/>
              </a:rPr>
              <a:t>400股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34440" y="5669280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>
                <a:solidFill>
                  <a:srgbClr val="DA4856"/>
                </a:solidFill>
                <a:latin typeface="Microsoft YaHei"/>
              </a:rPr>
              <a:t>买五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23160" y="5669280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1F2D3A"/>
                </a:solidFill>
                <a:latin typeface="Microsoft YaHei"/>
              </a:rPr>
              <a:t>9.96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5669280"/>
            <a:ext cx="914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50" b="0">
                <a:solidFill>
                  <a:srgbClr val="5B6A78"/>
                </a:solidFill>
                <a:latin typeface="Microsoft YaHei"/>
              </a:rPr>
              <a:t>1000股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897880" y="2057400"/>
            <a:ext cx="5166360" cy="3337560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3640" y="2606040"/>
            <a:ext cx="4434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1800">
                <a:solidFill>
                  <a:srgbClr val="1F2D3A"/>
                </a:solidFill>
                <a:latin typeface="Microsoft YaHei"/>
              </a:defRPr>
            </a:pPr>
            <a:r>
              <a:t>你想马上买，通常看卖一。</a:t>
            </a:r>
          </a:p>
          <a:p>
            <a:pPr marL="180000" indent="-105000">
              <a:spcAft>
                <a:spcPts val="900"/>
              </a:spcAft>
              <a:defRPr sz="1800">
                <a:solidFill>
                  <a:srgbClr val="1F2D3A"/>
                </a:solidFill>
                <a:latin typeface="Microsoft YaHei"/>
              </a:defRPr>
            </a:pPr>
            <a:r>
              <a:t>你想马上卖，通常看买一。</a:t>
            </a:r>
          </a:p>
          <a:p>
            <a:pPr marL="180000" indent="-105000">
              <a:spcAft>
                <a:spcPts val="900"/>
              </a:spcAft>
              <a:defRPr sz="1800">
                <a:solidFill>
                  <a:srgbClr val="1F2D3A"/>
                </a:solidFill>
                <a:latin typeface="Microsoft YaHei"/>
              </a:defRPr>
            </a:pPr>
            <a:r>
              <a:t>买一卖一差得越远，成交成本可能越高。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成交优先：谁更有诚意，谁排前面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价格优先；价格一样，时间优先。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240280"/>
            <a:ext cx="324612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42032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DA4856"/>
                </a:solidFill>
                <a:latin typeface="Microsoft YaHei"/>
              </a:rPr>
              <a:t>买入排队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3063240"/>
            <a:ext cx="2423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1450">
                <a:solidFill>
                  <a:srgbClr val="1F2D3A"/>
                </a:solidFill>
                <a:latin typeface="Microsoft YaHei"/>
              </a:defRPr>
            </a:pPr>
            <a:r>
              <a:t>出价 10.02 的人</a:t>
            </a:r>
          </a:p>
          <a:p>
            <a:pPr marL="180000" indent="-105000">
              <a:spcAft>
                <a:spcPts val="900"/>
              </a:spcAft>
              <a:defRPr sz="1450">
                <a:solidFill>
                  <a:srgbClr val="1F2D3A"/>
                </a:solidFill>
                <a:latin typeface="Microsoft YaHei"/>
              </a:defRPr>
            </a:pPr>
            <a:r>
              <a:t>排在 10.01 前面</a:t>
            </a:r>
          </a:p>
          <a:p>
            <a:pPr marL="180000" indent="-105000">
              <a:spcAft>
                <a:spcPts val="900"/>
              </a:spcAft>
              <a:defRPr sz="1450">
                <a:solidFill>
                  <a:srgbClr val="1F2D3A"/>
                </a:solidFill>
                <a:latin typeface="Microsoft YaHei"/>
              </a:defRPr>
            </a:pPr>
            <a:r>
              <a:t>因为买得更贵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2240280"/>
            <a:ext cx="324612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2542032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89C6F"/>
                </a:solidFill>
                <a:latin typeface="Microsoft YaHei"/>
              </a:rPr>
              <a:t>卖出排队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8888" y="3063240"/>
            <a:ext cx="2423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1450">
                <a:solidFill>
                  <a:srgbClr val="1F2D3A"/>
                </a:solidFill>
                <a:latin typeface="Microsoft YaHei"/>
              </a:defRPr>
            </a:pPr>
            <a:r>
              <a:t>卖价 9.98 的人</a:t>
            </a:r>
          </a:p>
          <a:p>
            <a:pPr marL="180000" indent="-105000">
              <a:spcAft>
                <a:spcPts val="900"/>
              </a:spcAft>
              <a:defRPr sz="1450">
                <a:solidFill>
                  <a:srgbClr val="1F2D3A"/>
                </a:solidFill>
                <a:latin typeface="Microsoft YaHei"/>
              </a:defRPr>
            </a:pPr>
            <a:r>
              <a:t>排在 9.99 前面</a:t>
            </a:r>
          </a:p>
          <a:p>
            <a:pPr marL="180000" indent="-105000">
              <a:spcAft>
                <a:spcPts val="900"/>
              </a:spcAft>
              <a:defRPr sz="1450">
                <a:solidFill>
                  <a:srgbClr val="1F2D3A"/>
                </a:solidFill>
                <a:latin typeface="Microsoft YaHei"/>
              </a:defRPr>
            </a:pPr>
            <a:r>
              <a:t>因为卖得更便宜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240280"/>
            <a:ext cx="2743200" cy="2468880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542032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4687D2"/>
                </a:solidFill>
                <a:latin typeface="Microsoft YaHei"/>
              </a:rPr>
              <a:t>价格一样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3154680"/>
            <a:ext cx="2057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1600">
                <a:solidFill>
                  <a:srgbClr val="1F2D3A"/>
                </a:solidFill>
                <a:latin typeface="Microsoft YaHei"/>
              </a:defRPr>
            </a:pPr>
            <a:r>
              <a:t>谁先下单</a:t>
            </a:r>
          </a:p>
          <a:p>
            <a:pPr marL="180000" indent="-105000">
              <a:spcAft>
                <a:spcPts val="900"/>
              </a:spcAft>
              <a:defRPr sz="1600">
                <a:solidFill>
                  <a:srgbClr val="1F2D3A"/>
                </a:solidFill>
                <a:latin typeface="Microsoft YaHei"/>
              </a:defRPr>
            </a:pPr>
            <a:r>
              <a:t>谁先排队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349240"/>
            <a:ext cx="99669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所以新手要明白：挂单价格太保守，可能一直成交不了。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撤单和未成交：挂着的可以撤，成交的不能反悔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撤单只对还没成交的部分有效。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423160"/>
            <a:ext cx="306324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743200"/>
            <a:ext cx="26060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4687D2"/>
                </a:solidFill>
                <a:latin typeface="Microsoft YaHei"/>
              </a:rPr>
              <a:t>未成交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429000"/>
            <a:ext cx="26060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50" b="0">
                <a:solidFill>
                  <a:srgbClr val="1F2D3A"/>
                </a:solidFill>
                <a:latin typeface="Microsoft YaHei"/>
              </a:rPr>
              <a:t>还在排队，可以撤单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423160"/>
            <a:ext cx="306324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2743200"/>
            <a:ext cx="26060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E0A63A"/>
                </a:solidFill>
                <a:latin typeface="Microsoft YaHei"/>
              </a:rPr>
              <a:t>部分成交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429000"/>
            <a:ext cx="26060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50" b="0">
                <a:solidFill>
                  <a:srgbClr val="1F2D3A"/>
                </a:solidFill>
                <a:latin typeface="Microsoft YaHei"/>
              </a:rPr>
              <a:t>成交的留下，剩余的可撤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19" y="2423160"/>
            <a:ext cx="306324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19" y="2743200"/>
            <a:ext cx="26060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DA4856"/>
                </a:solidFill>
                <a:latin typeface="Microsoft YaHei"/>
              </a:rPr>
              <a:t>全部成交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19" y="3429000"/>
            <a:ext cx="26060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50" b="0">
                <a:solidFill>
                  <a:srgbClr val="1F2D3A"/>
                </a:solidFill>
                <a:latin typeface="Microsoft YaHei"/>
              </a:rPr>
              <a:t>交易已经成立，不能撤回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230368"/>
            <a:ext cx="9875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icrosoft YaHei"/>
              </a:rPr>
              <a:t>一句话：撤单不是后悔药，只能撤还没真正成交的订单。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价格笼子：报价不能太离谱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价格笼子 = 系统给报价划一个合理范围，防止乌龙单。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03120"/>
            <a:ext cx="480060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450592"/>
            <a:ext cx="4160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例子：当前附近价格 10 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090672"/>
            <a:ext cx="416052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DA4856"/>
                </a:solidFill>
                <a:latin typeface="Microsoft YaHei"/>
              </a:rPr>
              <a:t>你想 12 元买入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703320"/>
            <a:ext cx="416052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>
                <a:solidFill>
                  <a:srgbClr val="1F2D3A"/>
                </a:solidFill>
                <a:latin typeface="Microsoft YaHei"/>
              </a:rPr>
              <a:t>离当前价格太远，可能被系统拦住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315968"/>
            <a:ext cx="416052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>
                <a:solidFill>
                  <a:srgbClr val="5B6A78"/>
                </a:solidFill>
                <a:latin typeface="Microsoft YaHei"/>
              </a:rPr>
              <a:t>目的：防止手滑报错价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2103120"/>
            <a:ext cx="5074920" cy="3154680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2542032"/>
            <a:ext cx="4434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1600">
                <a:solidFill>
                  <a:srgbClr val="1F2D3A"/>
                </a:solidFill>
                <a:latin typeface="Microsoft YaHei"/>
              </a:defRPr>
            </a:pPr>
            <a:r>
              <a:t>它不是涨停跌停。</a:t>
            </a:r>
          </a:p>
          <a:p>
            <a:pPr marL="180000" indent="-105000">
              <a:spcAft>
                <a:spcPts val="900"/>
              </a:spcAft>
              <a:defRPr sz="1600">
                <a:solidFill>
                  <a:srgbClr val="1F2D3A"/>
                </a:solidFill>
                <a:latin typeface="Microsoft YaHei"/>
              </a:defRPr>
            </a:pPr>
            <a:r>
              <a:t>它限制离市场价太远的申报。</a:t>
            </a:r>
          </a:p>
          <a:p>
            <a:pPr marL="180000" indent="-105000">
              <a:spcAft>
                <a:spcPts val="900"/>
              </a:spcAft>
              <a:defRPr sz="1600">
                <a:solidFill>
                  <a:srgbClr val="1F2D3A"/>
                </a:solidFill>
                <a:latin typeface="Microsoft YaHei"/>
              </a:defRPr>
            </a:pPr>
            <a:r>
              <a:t>A股连续竞价阶段常见有约 2% 报价约束，具体以交易所规则为准。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577840"/>
            <a:ext cx="99669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价格笼子像护栏，不预测涨跌，只防止报单太夸张。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A股、港股、美股：交易规则不一样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重点分清：能不能当天卖，和几天后交收，是两件事。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240280"/>
          <a:ext cx="1078992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2926080"/>
                <a:gridCol w="2286000"/>
                <a:gridCol w="4526280"/>
              </a:tblGrid>
              <a:tr h="81153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市场</a:t>
                      </a:r>
                    </a:p>
                  </a:txBody>
                  <a:tcPr>
                    <a:solidFill>
                      <a:srgbClr val="1C2D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当天买卖</a:t>
                      </a:r>
                    </a:p>
                  </a:txBody>
                  <a:tcPr>
                    <a:solidFill>
                      <a:srgbClr val="1C2D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交收</a:t>
                      </a:r>
                    </a:p>
                  </a:txBody>
                  <a:tcPr>
                    <a:solidFill>
                      <a:srgbClr val="1C2D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新手提醒</a:t>
                      </a:r>
                    </a:p>
                  </a:txBody>
                  <a:tcPr>
                    <a:solidFill>
                      <a:srgbClr val="1C2D3E"/>
                    </a:solidFill>
                  </a:tcPr>
                </a:tc>
              </a:tr>
              <a:tr h="81153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A股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股票通常 T+1</a:t>
                      </a:r>
                    </a:p>
                    <a:p>
                      <a:pPr algn="ctr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当天买入通常不能当天卖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资金/股票交收另有规则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先看板块和涨跌幅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153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港股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可日内买卖</a:t>
                      </a:r>
                    </a:p>
                    <a:p>
                      <a:pPr algn="ctr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常说 T+0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通常 T+2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一手股数不统一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81153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美股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可日内买卖</a:t>
                      </a:r>
                    </a:p>
                    <a:p>
                      <a:pPr algn="ctr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常说 T+0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多数证券 T+1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频繁日内交易看账户规则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交易时间和交易阶段：不是全天都一样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开盘前、盘中、收盘前，交易规则和价格形成方式可能不同。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148840"/>
            <a:ext cx="31546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542032"/>
            <a:ext cx="278892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DA4856"/>
                </a:solidFill>
                <a:latin typeface="Microsoft YaHei"/>
              </a:rPr>
              <a:t>A股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3273552"/>
            <a:ext cx="2560320" cy="8412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50" b="0">
                <a:solidFill>
                  <a:srgbClr val="1F2D3A"/>
                </a:solidFill>
                <a:latin typeface="Microsoft YaHei"/>
              </a:rPr>
              <a:t>集合竞价：开盘前集中撮合
连续竞价：盘中实时撮合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148840"/>
            <a:ext cx="31546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542032"/>
            <a:ext cx="278892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3AB2BE"/>
                </a:solidFill>
                <a:latin typeface="Microsoft YaHei"/>
              </a:rPr>
              <a:t>港股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8" y="3273552"/>
            <a:ext cx="2560320" cy="8412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50" b="0">
                <a:solidFill>
                  <a:srgbClr val="1F2D3A"/>
                </a:solidFill>
                <a:latin typeface="Microsoft YaHei"/>
              </a:rPr>
              <a:t>开市前、持续交易、收市竞价
另有午间休市和假期安排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19" y="2148840"/>
            <a:ext cx="31546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199" y="2542032"/>
            <a:ext cx="278892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4687D2"/>
                </a:solidFill>
                <a:latin typeface="Microsoft YaHei"/>
              </a:rPr>
              <a:t>美股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7928" y="3273552"/>
            <a:ext cx="2560320" cy="8412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50" b="0">
                <a:solidFill>
                  <a:srgbClr val="1F2D3A"/>
                </a:solidFill>
                <a:latin typeface="Microsoft YaHei"/>
              </a:rPr>
              <a:t>核心时段：美东 9:30-16:00
盘前盘后可交易，但流动性可能更差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32120"/>
            <a:ext cx="99669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新手重点：盘前盘后、收盘竞价不是普通盘中，别随便用市价单。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A股涨停、跌停：一天最多涨跌多少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涨停/跌停 = 当天价格涨跌到上限或下限。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57400"/>
            <a:ext cx="324612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377440"/>
            <a:ext cx="2834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  <a:latin typeface="Microsoft YaHei"/>
              </a:rPr>
              <a:t>昨天收盘 10 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63240"/>
            <a:ext cx="28346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DA4856"/>
                </a:solidFill>
                <a:latin typeface="Microsoft YaHei"/>
              </a:rPr>
              <a:t>涨停价约 11 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49039"/>
            <a:ext cx="28346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189C6F"/>
                </a:solidFill>
                <a:latin typeface="Microsoft YaHei"/>
              </a:rPr>
              <a:t>跌停价约 9 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2057400"/>
            <a:ext cx="324612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237744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DA4856"/>
                </a:solidFill>
                <a:latin typeface="Microsoft YaHei"/>
              </a:rPr>
              <a:t>涨停不等于稳赚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063240"/>
            <a:ext cx="27432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>
                <a:solidFill>
                  <a:srgbClr val="1F2D3A"/>
                </a:solidFill>
                <a:latin typeface="Microsoft YaHei"/>
              </a:rPr>
              <a:t>可能买不到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749039"/>
            <a:ext cx="27432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>
                <a:solidFill>
                  <a:srgbClr val="1F2D3A"/>
                </a:solidFill>
                <a:latin typeface="Microsoft YaHei"/>
              </a:rPr>
              <a:t>第二天也可能低开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2057400"/>
            <a:ext cx="2971800" cy="2971800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2468880"/>
            <a:ext cx="2423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1450">
                <a:solidFill>
                  <a:srgbClr val="1F2D3A"/>
                </a:solidFill>
                <a:latin typeface="Microsoft YaHei"/>
              </a:defRPr>
            </a:pPr>
            <a:r>
              <a:t>主板常见 ±10%。</a:t>
            </a:r>
          </a:p>
          <a:p>
            <a:pPr marL="180000" indent="-105000">
              <a:spcAft>
                <a:spcPts val="900"/>
              </a:spcAft>
              <a:defRPr sz="1450">
                <a:solidFill>
                  <a:srgbClr val="1F2D3A"/>
                </a:solidFill>
                <a:latin typeface="Microsoft YaHei"/>
              </a:defRPr>
            </a:pPr>
            <a:r>
              <a:t>ST 常见 ±5%。</a:t>
            </a:r>
          </a:p>
          <a:p>
            <a:pPr marL="180000" indent="-105000">
              <a:spcAft>
                <a:spcPts val="900"/>
              </a:spcAft>
              <a:defRPr sz="1450">
                <a:solidFill>
                  <a:srgbClr val="1F2D3A"/>
                </a:solidFill>
                <a:latin typeface="Microsoft YaHei"/>
              </a:defRPr>
            </a:pPr>
            <a:r>
              <a:t>创业板/科创板常见 ±20%。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532120"/>
            <a:ext cx="99669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涨跌停是风控规则，不是买卖理由；新股等特殊情况另算。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港股、美股：没有A股式涨跌停，但有波动控制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港股/美股更开放，所以更要理解冷静期和熔断。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57400"/>
            <a:ext cx="498348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377440"/>
            <a:ext cx="4434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3AB2BE"/>
                </a:solidFill>
                <a:latin typeface="Microsoft YaHei"/>
              </a:rPr>
              <a:t>港股：VCM 波动调节机制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907792"/>
            <a:ext cx="4114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1450">
                <a:solidFill>
                  <a:srgbClr val="1F2D3A"/>
                </a:solidFill>
                <a:latin typeface="Microsoft YaHei"/>
              </a:defRPr>
            </a:pPr>
            <a:r>
              <a:t>不是A股式每日涨跌停。</a:t>
            </a:r>
          </a:p>
          <a:p>
            <a:pPr marL="180000" indent="-105000">
              <a:spcAft>
                <a:spcPts val="900"/>
              </a:spcAft>
              <a:defRPr sz="1450">
                <a:solidFill>
                  <a:srgbClr val="1F2D3A"/>
                </a:solidFill>
                <a:latin typeface="Microsoft YaHei"/>
              </a:defRPr>
            </a:pPr>
            <a:r>
              <a:t>部分股票短时间剧烈波动，会进入冷静期。</a:t>
            </a:r>
          </a:p>
          <a:p>
            <a:pPr marL="180000" indent="-105000">
              <a:spcAft>
                <a:spcPts val="900"/>
              </a:spcAft>
              <a:defRPr sz="1450">
                <a:solidFill>
                  <a:srgbClr val="1F2D3A"/>
                </a:solidFill>
                <a:latin typeface="Microsoft YaHei"/>
              </a:defRPr>
            </a:pPr>
            <a:r>
              <a:t>冷静期内通常限制价格范围，但市场仍可交易。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057400"/>
            <a:ext cx="489204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377440"/>
            <a:ext cx="4343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E0A63A"/>
                </a:solidFill>
                <a:latin typeface="Microsoft YaHei"/>
              </a:rPr>
              <a:t>美股：大盘熔断 + 个股暂停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2" y="2907792"/>
            <a:ext cx="4069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1450">
                <a:solidFill>
                  <a:srgbClr val="1F2D3A"/>
                </a:solidFill>
                <a:latin typeface="Microsoft YaHei"/>
              </a:defRPr>
            </a:pPr>
            <a:r>
              <a:t>大盘熔断看 S&amp;P 500 跌幅。</a:t>
            </a:r>
          </a:p>
          <a:p>
            <a:pPr marL="180000" indent="-105000">
              <a:spcAft>
                <a:spcPts val="900"/>
              </a:spcAft>
              <a:defRPr sz="1450">
                <a:solidFill>
                  <a:srgbClr val="1F2D3A"/>
                </a:solidFill>
                <a:latin typeface="Microsoft YaHei"/>
              </a:defRPr>
            </a:pPr>
            <a:r>
              <a:t>常见触发线：7%、13%、20%。</a:t>
            </a:r>
          </a:p>
          <a:p>
            <a:pPr marL="180000" indent="-105000">
              <a:spcAft>
                <a:spcPts val="900"/>
              </a:spcAft>
              <a:defRPr sz="1450">
                <a:solidFill>
                  <a:srgbClr val="1F2D3A"/>
                </a:solidFill>
                <a:latin typeface="Microsoft YaHei"/>
              </a:defRPr>
            </a:pPr>
            <a:r>
              <a:t>个股也可能因波动过大临时暂停。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577840"/>
            <a:ext cx="99669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50" b="1">
                <a:solidFill>
                  <a:srgbClr val="FFFFFF"/>
                </a:solidFill>
                <a:latin typeface="Microsoft YaHei"/>
              </a:rPr>
              <a:t>熔断不是救市按钮，只是让市场暂停一下，给大家重新报价的时间。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停牌、复牌、ST：看到这些先停一下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有些股票不是随时都能买卖，有些股票风险标签更高。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194560"/>
            <a:ext cx="30632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14600"/>
            <a:ext cx="2606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4687D2"/>
                </a:solidFill>
                <a:latin typeface="Microsoft YaHei"/>
              </a:rPr>
              <a:t>停牌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46120"/>
            <a:ext cx="2606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>
                <a:solidFill>
                  <a:srgbClr val="1F2D3A"/>
                </a:solidFill>
                <a:latin typeface="Microsoft YaHei"/>
              </a:rPr>
              <a:t>暂时不能交易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2194560"/>
            <a:ext cx="30632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514600"/>
            <a:ext cx="2606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189C6F"/>
                </a:solidFill>
                <a:latin typeface="Microsoft YaHei"/>
              </a:rPr>
              <a:t>复牌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246120"/>
            <a:ext cx="2606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>
                <a:solidFill>
                  <a:srgbClr val="1F2D3A"/>
                </a:solidFill>
                <a:latin typeface="Microsoft YaHei"/>
              </a:rPr>
              <a:t>恢复交易，波动可能变大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2194560"/>
            <a:ext cx="30632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514600"/>
            <a:ext cx="2606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DA4856"/>
                </a:solidFill>
                <a:latin typeface="Microsoft YaHei"/>
              </a:rPr>
              <a:t>ST/风险警示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246120"/>
            <a:ext cx="2606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50" b="0">
                <a:solidFill>
                  <a:srgbClr val="1F2D3A"/>
                </a:solidFill>
                <a:latin typeface="Microsoft YaHei"/>
              </a:rPr>
              <a:t>公司风险较高，涨跌幅也可能不同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349240"/>
            <a:ext cx="99669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新手看法：有风险标签、停复牌公告的股票，先别急着碰。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分红、除权除息：不是天上掉钱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分红会给你钱，但股价通常也会做相应调整。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148840"/>
            <a:ext cx="480060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14600"/>
            <a:ext cx="42062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简单例子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63240"/>
            <a:ext cx="3886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1650">
                <a:solidFill>
                  <a:srgbClr val="1F2D3A"/>
                </a:solidFill>
                <a:latin typeface="Microsoft YaHei"/>
              </a:defRPr>
            </a:pPr>
            <a:r>
              <a:t>股价 10 元。</a:t>
            </a:r>
          </a:p>
          <a:p>
            <a:pPr marL="180000" indent="-105000">
              <a:spcAft>
                <a:spcPts val="900"/>
              </a:spcAft>
              <a:defRPr sz="1650">
                <a:solidFill>
                  <a:srgbClr val="1F2D3A"/>
                </a:solidFill>
                <a:latin typeface="Microsoft YaHei"/>
              </a:defRPr>
            </a:pPr>
            <a:r>
              <a:t>每股分红 1 元。</a:t>
            </a:r>
          </a:p>
          <a:p>
            <a:pPr marL="180000" indent="-105000">
              <a:spcAft>
                <a:spcPts val="900"/>
              </a:spcAft>
              <a:defRPr sz="1650">
                <a:solidFill>
                  <a:srgbClr val="1F2D3A"/>
                </a:solidFill>
                <a:latin typeface="Microsoft YaHei"/>
              </a:defRPr>
            </a:pPr>
            <a:r>
              <a:t>除息后参考价可能变成约 9 元。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148840"/>
            <a:ext cx="4892040" cy="2880360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743200"/>
            <a:ext cx="4160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1700">
                <a:solidFill>
                  <a:srgbClr val="1F2D3A"/>
                </a:solidFill>
                <a:latin typeface="Microsoft YaHei"/>
              </a:defRPr>
            </a:pPr>
            <a:r>
              <a:t>分红不是白捡。</a:t>
            </a:r>
          </a:p>
          <a:p>
            <a:pPr marL="180000" indent="-105000">
              <a:spcAft>
                <a:spcPts val="900"/>
              </a:spcAft>
              <a:defRPr sz="1700">
                <a:solidFill>
                  <a:srgbClr val="1F2D3A"/>
                </a:solidFill>
                <a:latin typeface="Microsoft YaHei"/>
              </a:defRPr>
            </a:pPr>
            <a:r>
              <a:t>重点看公司长期赚钱能力。</a:t>
            </a:r>
          </a:p>
          <a:p>
            <a:pPr marL="180000" indent="-105000">
              <a:spcAft>
                <a:spcPts val="900"/>
              </a:spcAft>
              <a:defRPr sz="1700">
                <a:solidFill>
                  <a:srgbClr val="1F2D3A"/>
                </a:solidFill>
                <a:latin typeface="Microsoft YaHei"/>
              </a:defRPr>
            </a:pPr>
            <a:r>
              <a:t>不要只因为“要分红”就买。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486400"/>
            <a:ext cx="99669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新手看法：分红是现金流，不是保证赚钱；股价和税费也要一起看。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真实行情图长什么样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行情图就是把价格变化画出来。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057400"/>
            <a:ext cx="64008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600519_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04288"/>
            <a:ext cx="5870448" cy="34930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88352" y="2057400"/>
            <a:ext cx="4069080" cy="4160520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2542032"/>
            <a:ext cx="33375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1800">
                <a:solidFill>
                  <a:srgbClr val="1F2D3A"/>
                </a:solidFill>
                <a:latin typeface="Microsoft YaHei"/>
              </a:defRPr>
            </a:pPr>
            <a:r>
              <a:t>上面：价格走势。</a:t>
            </a:r>
          </a:p>
          <a:p>
            <a:pPr marL="180000" indent="-105000">
              <a:spcAft>
                <a:spcPts val="900"/>
              </a:spcAft>
              <a:defRPr sz="1800">
                <a:solidFill>
                  <a:srgbClr val="1F2D3A"/>
                </a:solidFill>
                <a:latin typeface="Microsoft YaHei"/>
              </a:defRPr>
            </a:pPr>
            <a:r>
              <a:t>中间彩线：均线。</a:t>
            </a:r>
          </a:p>
          <a:p>
            <a:pPr marL="180000" indent="-105000">
              <a:spcAft>
                <a:spcPts val="900"/>
              </a:spcAft>
              <a:defRPr sz="1800">
                <a:solidFill>
                  <a:srgbClr val="1F2D3A"/>
                </a:solidFill>
                <a:latin typeface="Microsoft YaHei"/>
              </a:defRPr>
            </a:pPr>
            <a:r>
              <a:t>下面：成交量。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一根K线怎么读：开盘、收盘、最高、最低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一根K线只说明这一段时间价格怎么走过。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612648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0700_H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267712"/>
            <a:ext cx="5715000" cy="35204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086600" y="1993392"/>
            <a:ext cx="4434840" cy="4160520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281160" y="2514600"/>
            <a:ext cx="0" cy="2971800"/>
          </a:xfrm>
          <a:prstGeom prst="line">
            <a:avLst/>
          </a:prstGeom>
          <a:ln w="25400">
            <a:solidFill>
              <a:srgbClr val="DA48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961119" y="3264408"/>
            <a:ext cx="640080" cy="1234440"/>
          </a:xfrm>
          <a:prstGeom prst="rect">
            <a:avLst/>
          </a:prstGeom>
          <a:solidFill>
            <a:srgbClr val="DA4856"/>
          </a:solidFill>
          <a:ln>
            <a:solidFill>
              <a:srgbClr val="DA4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432304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1F2D3A"/>
                </a:solidFill>
                <a:latin typeface="Microsoft YaHei"/>
              </a:rPr>
              <a:t>最高价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3273552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1F2D3A"/>
                </a:solidFill>
                <a:latin typeface="Microsoft YaHei"/>
              </a:rPr>
              <a:t>收盘价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4078224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1F2D3A"/>
                </a:solidFill>
                <a:latin typeface="Microsoft YaHei"/>
              </a:rPr>
              <a:t>开盘价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5394960"/>
            <a:ext cx="10972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1F2D3A"/>
                </a:solidFill>
                <a:latin typeface="Microsoft YaHei"/>
              </a:rPr>
              <a:t>最低价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7" y="4892040"/>
            <a:ext cx="37490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1250">
                <a:solidFill>
                  <a:srgbClr val="1F2D3A"/>
                </a:solidFill>
                <a:latin typeface="Microsoft YaHei"/>
              </a:defRPr>
            </a:pPr>
            <a:r>
              <a:t>实体看开盘和收盘。</a:t>
            </a:r>
          </a:p>
          <a:p>
            <a:pPr marL="180000" indent="-105000">
              <a:spcAft>
                <a:spcPts val="900"/>
              </a:spcAft>
              <a:defRPr sz="1250">
                <a:solidFill>
                  <a:srgbClr val="1F2D3A"/>
                </a:solidFill>
                <a:latin typeface="Microsoft YaHei"/>
              </a:defRPr>
            </a:pPr>
            <a:r>
              <a:t>影线看最高和最低。</a:t>
            </a:r>
          </a:p>
          <a:p>
            <a:pPr marL="180000" indent="-105000">
              <a:spcAft>
                <a:spcPts val="900"/>
              </a:spcAft>
              <a:defRPr sz="1250">
                <a:solidFill>
                  <a:srgbClr val="1F2D3A"/>
                </a:solidFill>
                <a:latin typeface="Microsoft YaHei"/>
              </a:defRPr>
            </a:pPr>
            <a:r>
              <a:t>不要只靠一根K线判断明天。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真实K线不要单独看：还要看趋势、均线、成交量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看K线的顺序：先看位置，再看形态，最后看量。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653796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600519_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249424"/>
            <a:ext cx="6053328" cy="352958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1051560" y="2331720"/>
            <a:ext cx="960120" cy="292608"/>
          </a:xfrm>
          <a:prstGeom prst="roundRect">
            <a:avLst/>
          </a:prstGeom>
          <a:solidFill>
            <a:srgbClr val="468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2395727"/>
            <a:ext cx="868680" cy="1097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价格区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9080" y="2761488"/>
            <a:ext cx="960120" cy="292608"/>
          </a:xfrm>
          <a:prstGeom prst="roundRect">
            <a:avLst/>
          </a:prstGeom>
          <a:solidFill>
            <a:srgbClr val="E0A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05656" y="2825496"/>
            <a:ext cx="868680" cy="1097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均线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5285232"/>
            <a:ext cx="960120" cy="292608"/>
          </a:xfrm>
          <a:prstGeom prst="roundRect">
            <a:avLst/>
          </a:prstGeom>
          <a:solidFill>
            <a:srgbClr val="3AB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1416" y="5349240"/>
            <a:ext cx="868680" cy="1097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成交量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16368" y="1993392"/>
            <a:ext cx="3886200" cy="4160520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45552" y="2606040"/>
            <a:ext cx="3154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1700">
                <a:solidFill>
                  <a:srgbClr val="1F2D3A"/>
                </a:solidFill>
                <a:latin typeface="Microsoft YaHei"/>
              </a:defRPr>
            </a:pPr>
            <a:r>
              <a:t>趋势：现在大概往哪走？</a:t>
            </a:r>
          </a:p>
          <a:p>
            <a:pPr marL="180000" indent="-105000">
              <a:spcAft>
                <a:spcPts val="900"/>
              </a:spcAft>
              <a:defRPr sz="1700">
                <a:solidFill>
                  <a:srgbClr val="1F2D3A"/>
                </a:solidFill>
                <a:latin typeface="Microsoft YaHei"/>
              </a:defRPr>
            </a:pPr>
            <a:r>
              <a:t>位置：是在高位、低位还是中间？</a:t>
            </a:r>
          </a:p>
          <a:p>
            <a:pPr marL="180000" indent="-105000">
              <a:spcAft>
                <a:spcPts val="900"/>
              </a:spcAft>
              <a:defRPr sz="1700">
                <a:solidFill>
                  <a:srgbClr val="1F2D3A"/>
                </a:solidFill>
                <a:latin typeface="Microsoft YaHei"/>
              </a:defRPr>
            </a:pPr>
            <a:r>
              <a:t>量能：这次变化有没有人参与？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0688" y="5257800"/>
            <a:ext cx="32461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F2D3A"/>
                </a:solidFill>
                <a:latin typeface="Microsoft YaHei"/>
              </a:rPr>
              <a:t>形态不是答案，只是提醒你去问问题。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均线怎么看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均线 = 过去一段时间的平均价格。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057400"/>
            <a:ext cx="64008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NV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04288"/>
            <a:ext cx="5870448" cy="34930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88352" y="2057400"/>
            <a:ext cx="4069080" cy="4160520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2542032"/>
            <a:ext cx="33375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1800">
                <a:solidFill>
                  <a:srgbClr val="1F2D3A"/>
                </a:solidFill>
                <a:latin typeface="Microsoft YaHei"/>
              </a:defRPr>
            </a:pPr>
            <a:r>
              <a:t>短均线：反应快。</a:t>
            </a:r>
          </a:p>
          <a:p>
            <a:pPr marL="180000" indent="-105000">
              <a:spcAft>
                <a:spcPts val="900"/>
              </a:spcAft>
              <a:defRPr sz="1800">
                <a:solidFill>
                  <a:srgbClr val="1F2D3A"/>
                </a:solidFill>
                <a:latin typeface="Microsoft YaHei"/>
              </a:defRPr>
            </a:pPr>
            <a:r>
              <a:t>长均线：看大方向。</a:t>
            </a:r>
          </a:p>
          <a:p>
            <a:pPr marL="180000" indent="-105000">
              <a:spcAft>
                <a:spcPts val="900"/>
              </a:spcAft>
              <a:defRPr sz="1800">
                <a:solidFill>
                  <a:srgbClr val="1F2D3A"/>
                </a:solidFill>
                <a:latin typeface="Microsoft YaHei"/>
              </a:defRPr>
            </a:pPr>
            <a:r>
              <a:t>均线是辅助，不是保证。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成交量怎么看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成交量 = 这段时间买卖有多热闹。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057400"/>
            <a:ext cx="64008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300750_S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04288"/>
            <a:ext cx="5870448" cy="34930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88352" y="2057400"/>
            <a:ext cx="4069080" cy="4160520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2542032"/>
            <a:ext cx="33375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1800">
                <a:solidFill>
                  <a:srgbClr val="1F2D3A"/>
                </a:solidFill>
                <a:latin typeface="Microsoft YaHei"/>
              </a:defRPr>
            </a:pPr>
            <a:r>
              <a:t>量大：参与的人多。</a:t>
            </a:r>
          </a:p>
          <a:p>
            <a:pPr marL="180000" indent="-105000">
              <a:spcAft>
                <a:spcPts val="900"/>
              </a:spcAft>
              <a:defRPr sz="1800">
                <a:solidFill>
                  <a:srgbClr val="1F2D3A"/>
                </a:solidFill>
                <a:latin typeface="Microsoft YaHei"/>
              </a:defRPr>
            </a:pPr>
            <a:r>
              <a:t>量小：交易比较冷。</a:t>
            </a:r>
          </a:p>
          <a:p>
            <a:pPr marL="180000" indent="-105000">
              <a:spcAft>
                <a:spcPts val="900"/>
              </a:spcAft>
              <a:defRPr sz="1800">
                <a:solidFill>
                  <a:srgbClr val="1F2D3A"/>
                </a:solidFill>
                <a:latin typeface="Microsoft YaHei"/>
              </a:defRPr>
            </a:pPr>
            <a:r>
              <a:t>涨跌都要配合成交量看。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为什么会涨跌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买的人更着急，价格容易涨；卖的人更着急，价格容易跌。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48840"/>
            <a:ext cx="662940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78608"/>
            <a:ext cx="58978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消息会影响情绪。</a:t>
            </a:r>
          </a:p>
          <a:p>
            <a:pPr marL="180000" indent="-105000">
              <a:spcAft>
                <a:spcPts val="9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业绩会影响预期。</a:t>
            </a:r>
          </a:p>
          <a:p>
            <a:pPr marL="180000" indent="-105000">
              <a:spcAft>
                <a:spcPts val="9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资金进出会影响价格。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148840"/>
            <a:ext cx="3429000" cy="3566160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15400" y="2834640"/>
            <a:ext cx="1234440" cy="1234440"/>
          </a:xfrm>
          <a:prstGeom prst="ellipse">
            <a:avLst/>
          </a:prstGeom>
          <a:solidFill>
            <a:srgbClr val="DA4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79408" y="3200400"/>
            <a:ext cx="109728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一句话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4407408"/>
            <a:ext cx="2889504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50" b="1">
                <a:solidFill>
                  <a:srgbClr val="1F2D3A"/>
                </a:solidFill>
                <a:latin typeface="Microsoft YaHei"/>
              </a:rPr>
              <a:t>买的人更着急，价格容易涨；卖的人更着急，价格容易跌。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买之前，只问三个问题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不会回答这三个问题，就先别急着买。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514600"/>
            <a:ext cx="3063240" cy="1325880"/>
          </a:xfrm>
          <a:prstGeom prst="roundRect">
            <a:avLst>
              <a:gd name="adj" fmla="val 8000"/>
            </a:avLst>
          </a:prstGeom>
          <a:solidFill>
            <a:srgbClr val="468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" y="2788920"/>
            <a:ext cx="2697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为什么买？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3246120"/>
            <a:ext cx="26974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因为规则/趋势/价格位置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2514600"/>
            <a:ext cx="3063240" cy="1325880"/>
          </a:xfrm>
          <a:prstGeom prst="roundRect">
            <a:avLst>
              <a:gd name="adj" fmla="val 8000"/>
            </a:avLst>
          </a:prstGeom>
          <a:solidFill>
            <a:srgbClr val="DA4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8031" y="2788920"/>
            <a:ext cx="2697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错了怎么办？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1" y="3246120"/>
            <a:ext cx="26974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跌到哪里我认错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2514600"/>
            <a:ext cx="3063240" cy="1325880"/>
          </a:xfrm>
          <a:prstGeom prst="roundRect">
            <a:avLst>
              <a:gd name="adj" fmla="val 8000"/>
            </a:avLst>
          </a:prstGeom>
          <a:solidFill>
            <a:srgbClr val="189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31352" y="2788920"/>
            <a:ext cx="2697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赚了怎么卖？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1352" y="3246120"/>
            <a:ext cx="26974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涨到哪里分批走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193792"/>
            <a:ext cx="9875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icrosoft YaHei"/>
              </a:rPr>
              <a:t>新手最大的进步：从“我感觉会涨”，变成“我有计划，也知道错了怎么办”。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仓位和止损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先决定最多亏多少，再决定买多少。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48840"/>
            <a:ext cx="662940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78608"/>
            <a:ext cx="58978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不要一上来满仓。</a:t>
            </a:r>
          </a:p>
          <a:p>
            <a:pPr marL="180000" indent="-105000">
              <a:spcAft>
                <a:spcPts val="9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亏损后不要随意加仓。</a:t>
            </a:r>
          </a:p>
          <a:p>
            <a:pPr marL="180000" indent="-105000">
              <a:spcAft>
                <a:spcPts val="9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跌到计划位置要认错。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148840"/>
            <a:ext cx="3429000" cy="3566160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15400" y="2834640"/>
            <a:ext cx="1234440" cy="1234440"/>
          </a:xfrm>
          <a:prstGeom prst="ellipse">
            <a:avLst/>
          </a:prstGeom>
          <a:solidFill>
            <a:srgbClr val="E0A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79408" y="3200400"/>
            <a:ext cx="109728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一句话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4407408"/>
            <a:ext cx="2889504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50" b="1">
                <a:solidFill>
                  <a:srgbClr val="1F2D3A"/>
                </a:solidFill>
                <a:latin typeface="Microsoft YaHei"/>
              </a:rPr>
              <a:t>先决定最多亏多少，再决定买多少。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复盘：每次交易都留一条记录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复盘不是写作文，是找出自己哪里做错了。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2240280"/>
            <a:ext cx="973836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2368296"/>
            <a:ext cx="1828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4687D2"/>
                </a:solidFill>
                <a:latin typeface="Microsoft YaHei"/>
              </a:rPr>
              <a:t>买入理由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368296"/>
            <a:ext cx="69494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F2D3A"/>
                </a:solidFill>
                <a:latin typeface="Microsoft YaHei"/>
              </a:rPr>
              <a:t>我为什么买？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3026664"/>
            <a:ext cx="9738360" cy="530352"/>
          </a:xfrm>
          <a:prstGeom prst="roundRect">
            <a:avLst>
              <a:gd name="adj" fmla="val 6000"/>
            </a:avLst>
          </a:prstGeom>
          <a:solidFill>
            <a:srgbClr val="F0F7FB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3154680"/>
            <a:ext cx="1828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9C6F"/>
                </a:solidFill>
                <a:latin typeface="Microsoft YaHei"/>
              </a:rPr>
              <a:t>卖出理由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154680"/>
            <a:ext cx="69494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F2D3A"/>
                </a:solidFill>
                <a:latin typeface="Microsoft YaHei"/>
              </a:rPr>
              <a:t>我为什么卖？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34440" y="3813048"/>
            <a:ext cx="973836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08760" y="3941063"/>
            <a:ext cx="1828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0A63A"/>
                </a:solidFill>
                <a:latin typeface="Microsoft YaHei"/>
              </a:rPr>
              <a:t>赚亏结果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941063"/>
            <a:ext cx="69494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F2D3A"/>
                </a:solidFill>
                <a:latin typeface="Microsoft YaHei"/>
              </a:rPr>
              <a:t>赚/亏多少钱？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4440" y="4599432"/>
            <a:ext cx="9738360" cy="530352"/>
          </a:xfrm>
          <a:prstGeom prst="roundRect">
            <a:avLst>
              <a:gd name="adj" fmla="val 6000"/>
            </a:avLst>
          </a:prstGeom>
          <a:solidFill>
            <a:srgbClr val="F0F7FB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08760" y="4727448"/>
            <a:ext cx="1828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DA4856"/>
                </a:solidFill>
                <a:latin typeface="Microsoft YaHei"/>
              </a:rPr>
              <a:t>错误记录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4727448"/>
            <a:ext cx="69494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F2D3A"/>
                </a:solidFill>
                <a:latin typeface="Microsoft YaHei"/>
              </a:rPr>
              <a:t>是追高、乱加仓，还是没止损？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961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最后只记住这几句话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0574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完整规则 + K线版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40" b="0">
                <a:solidFill>
                  <a:srgbClr val="B8C6D3"/>
                </a:solidFill>
                <a:latin typeface="Microsoft YaHei"/>
              </a:rPr>
              <a:t>真实股票和行情图只作教学样本，不构成投资建议；具体规则以交易所和券商最新说明为准。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BF4FA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先会听懂，再去学习更复杂的技术。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2103120"/>
            <a:ext cx="10104120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72768" y="2578608"/>
            <a:ext cx="91440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900"/>
              </a:spcAft>
              <a:defRPr sz="2000">
                <a:solidFill>
                  <a:srgbClr val="1F2D3A"/>
                </a:solidFill>
                <a:latin typeface="Microsoft YaHei"/>
              </a:defRPr>
            </a:pPr>
            <a:r>
              <a:t>买入 = 花钱换股票；卖出 = 把股票换回钱。</a:t>
            </a:r>
          </a:p>
          <a:p>
            <a:pPr marL="180000" indent="-105000">
              <a:spcAft>
                <a:spcPts val="900"/>
              </a:spcAft>
              <a:defRPr sz="2000">
                <a:solidFill>
                  <a:srgbClr val="1F2D3A"/>
                </a:solidFill>
                <a:latin typeface="Microsoft YaHei"/>
              </a:defRPr>
            </a:pPr>
            <a:r>
              <a:t>港股/美股当天买了可以当天卖，交收是另一件事。</a:t>
            </a:r>
          </a:p>
          <a:p>
            <a:pPr marL="180000" indent="-105000">
              <a:spcAft>
                <a:spcPts val="900"/>
              </a:spcAft>
              <a:defRPr sz="2000">
                <a:solidFill>
                  <a:srgbClr val="1F2D3A"/>
                </a:solidFill>
                <a:latin typeface="Microsoft YaHei"/>
              </a:defRPr>
            </a:pPr>
            <a:r>
              <a:t>K线看价格过程，均线看趋势，成交量看热闹程度。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5230368"/>
            <a:ext cx="91440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DA4856"/>
                </a:solidFill>
                <a:latin typeface="Microsoft YaHei"/>
              </a:rPr>
              <a:t>任何股票案例都不是推荐买入。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