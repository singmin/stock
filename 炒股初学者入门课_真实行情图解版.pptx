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3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5029200" cy="32004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ED2E2"/>
                </a:solidFill>
                <a:latin typeface="Microsoft YaHei"/>
              </a:rPr>
              <a:t>真实行情图解版 · 炒股初学者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7040880" cy="100584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炒股初学者入门课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304288"/>
            <a:ext cx="6583680" cy="40233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100" b="0">
                <a:solidFill>
                  <a:srgbClr val="DAE7F0"/>
                </a:solidFill>
                <a:latin typeface="Microsoft YaHei"/>
              </a:rPr>
              <a:t>用真实股票图表讲规则、K线、均线和风控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868680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996695"/>
            <a:ext cx="4206240" cy="11155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2542032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0700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670048"/>
            <a:ext cx="4206240" cy="11155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95160" y="4215384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V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343400"/>
            <a:ext cx="4206240" cy="1115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806440"/>
            <a:ext cx="6675120" cy="27432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350" b="0">
                <a:solidFill>
                  <a:srgbClr val="CBD8E3"/>
                </a:solidFill>
                <a:latin typeface="Microsoft YaHei"/>
              </a:rPr>
              <a:t>案例股票只用于教学观察，不构成任何买卖建议。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先把三地交易规则放在一张图里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234440"/>
          <a:ext cx="108813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971800"/>
                <a:gridCol w="3383280"/>
                <a:gridCol w="3474720"/>
              </a:tblGrid>
              <a:tr h="11087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代表案例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交易/交收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新手重点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贵州茅台 / 宁德时代 / 工商银行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常见 T+1；主板、科创板、创业板规则不同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先确认板块、涨跌幅、交易单位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腾讯控股 / 阿里巴巴-W / 汇丰控股</a:t>
                      </a:r>
                    </a:p>
                  </a:txBody>
                  <a:tcPr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通常 T+2；一手股数不统一</a:t>
                      </a:r>
                    </a:p>
                  </a:txBody>
                  <a:tcPr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无普通涨跌停，注意港币、价差和流动性</a:t>
                      </a:r>
                    </a:p>
                  </a:txBody>
                  <a:tcPr>
                    <a:solidFill>
                      <a:srgbClr val="EEF4F9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Apple / NVIDIA / Tesla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多数证券 T+1；核心时段美东 9:30-16:00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可 1 股起，盘前盘后价差和波动更大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870448"/>
            <a:ext cx="1042416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CBD8E3"/>
                </a:solidFill>
                <a:latin typeface="Microsoft YaHei"/>
              </a:rPr>
              <a:t>讲法：先用规则解释“能不能买卖”，再用图表解释“价格正在发生什么”。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案例股票池：九只真实股票，九种教学视角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6070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060704"/>
            <a:ext cx="128016" cy="1353312"/>
          </a:xfrm>
          <a:prstGeom prst="rect">
            <a:avLst/>
          </a:prstGeom>
          <a:solidFill>
            <a:srgbClr val="DC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16151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贵州茅台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234439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600519.SH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1790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DC4052"/>
                </a:solidFill>
                <a:latin typeface="Microsoft YaHei"/>
              </a:rPr>
              <a:t>A股 · 消费龙头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819655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9C70"/>
                </a:solidFill>
                <a:latin typeface="Microsoft YaHei"/>
              </a:rPr>
              <a:t>近约1年 -9.3%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09397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1291.91</a:t>
            </a:r>
          </a:p>
        </p:txBody>
      </p:sp>
      <p:pic>
        <p:nvPicPr>
          <p:cNvPr id="15" name="Picture 14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636776"/>
            <a:ext cx="1783080" cy="62179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389120" y="106070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060704"/>
            <a:ext cx="128016" cy="1353312"/>
          </a:xfrm>
          <a:prstGeom prst="rect">
            <a:avLst/>
          </a:prstGeom>
          <a:solidFill>
            <a:srgbClr val="1A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216151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宁德时代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234439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300750.SZ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51790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1A9C70"/>
                </a:solidFill>
                <a:latin typeface="Microsoft YaHei"/>
              </a:rPr>
              <a:t>A股 · 新能源成长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819655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DC4052"/>
                </a:solidFill>
                <a:latin typeface="Microsoft YaHei"/>
              </a:rPr>
              <a:t>近约1年 +45.5%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09397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394.85</a:t>
            </a:r>
          </a:p>
        </p:txBody>
      </p:sp>
      <p:pic>
        <p:nvPicPr>
          <p:cNvPr id="23" name="Picture 22" descr="300750_S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636776"/>
            <a:ext cx="1783080" cy="62179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11311" y="106070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11311" y="1060704"/>
            <a:ext cx="128016" cy="1353312"/>
          </a:xfrm>
          <a:prstGeom prst="rect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1" y="1216151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工商银行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1" y="1234439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601398.SH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151790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4687D2"/>
                </a:solidFill>
                <a:latin typeface="Microsoft YaHei"/>
              </a:rPr>
              <a:t>A股 · 大型银行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1819655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DC4052"/>
                </a:solidFill>
                <a:latin typeface="Microsoft YaHei"/>
              </a:rPr>
              <a:t>近约1年 +9.6%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1" y="209397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7.78</a:t>
            </a:r>
          </a:p>
        </p:txBody>
      </p:sp>
      <p:pic>
        <p:nvPicPr>
          <p:cNvPr id="31" name="Picture 30" descr="601398_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3" y="1636776"/>
            <a:ext cx="1783080" cy="62179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66928" y="270662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706624"/>
            <a:ext cx="128016" cy="1353312"/>
          </a:xfrm>
          <a:prstGeom prst="rect">
            <a:avLst/>
          </a:prstGeom>
          <a:solidFill>
            <a:srgbClr val="3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2862072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腾讯控股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4328" y="2880360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00700.HK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316382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3AB4BE"/>
                </a:solidFill>
                <a:latin typeface="Microsoft YaHei"/>
              </a:rPr>
              <a:t>港股 · 互联网平台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3465576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9C70"/>
                </a:solidFill>
                <a:latin typeface="Microsoft YaHei"/>
              </a:rPr>
              <a:t>近约1年 -22.8%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373989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463.60</a:t>
            </a:r>
          </a:p>
        </p:txBody>
      </p:sp>
      <p:pic>
        <p:nvPicPr>
          <p:cNvPr id="39" name="Picture 38" descr="00700_H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3282696"/>
            <a:ext cx="1783080" cy="62179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389120" y="270662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2706624"/>
            <a:ext cx="128016" cy="1353312"/>
          </a:xfrm>
          <a:prstGeom prst="rect">
            <a:avLst/>
          </a:prstGeom>
          <a:solidFill>
            <a:srgbClr val="DCA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2862072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阿里巴巴-W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880360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09988.HK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316382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DCA43A"/>
                </a:solidFill>
                <a:latin typeface="Microsoft YaHei"/>
              </a:rPr>
              <a:t>港股 · 电商/云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3465576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9C70"/>
                </a:solidFill>
                <a:latin typeface="Microsoft YaHei"/>
              </a:rPr>
              <a:t>近约1年 -18.2%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373989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110.20</a:t>
            </a:r>
          </a:p>
        </p:txBody>
      </p:sp>
      <p:pic>
        <p:nvPicPr>
          <p:cNvPr id="47" name="Picture 46" descr="09988_H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3282696"/>
            <a:ext cx="1783080" cy="62179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211311" y="270662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11311" y="2706624"/>
            <a:ext cx="128016" cy="1353312"/>
          </a:xfrm>
          <a:prstGeom prst="rect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1" y="2862072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汇丰控股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68711" y="2880360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00005.HK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1" y="316382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4687D2"/>
                </a:solidFill>
                <a:latin typeface="Microsoft YaHei"/>
              </a:rPr>
              <a:t>港股 · 国际银行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1" y="3465576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DC4052"/>
                </a:solidFill>
                <a:latin typeface="Microsoft YaHei"/>
              </a:rPr>
              <a:t>近约1年 +43.2%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9911" y="373989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142.80</a:t>
            </a:r>
          </a:p>
        </p:txBody>
      </p:sp>
      <p:pic>
        <p:nvPicPr>
          <p:cNvPr id="55" name="Picture 54" descr="00005_H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503" y="3282696"/>
            <a:ext cx="1783080" cy="62179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66928" y="435254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4352544"/>
            <a:ext cx="128016" cy="1353312"/>
          </a:xfrm>
          <a:prstGeom prst="rect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4507992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Apple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24328" y="4526280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AAPL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480974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5A6978"/>
                </a:solidFill>
                <a:latin typeface="Microsoft YaHei"/>
              </a:rPr>
              <a:t>美股 · 消费电子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5111496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DC4052"/>
                </a:solidFill>
                <a:latin typeface="Microsoft YaHei"/>
              </a:rPr>
              <a:t>近约1年 +30.4%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8" y="538581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295.63</a:t>
            </a:r>
          </a:p>
        </p:txBody>
      </p:sp>
      <p:pic>
        <p:nvPicPr>
          <p:cNvPr id="63" name="Picture 62" descr="AAP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4928616"/>
            <a:ext cx="1783080" cy="621792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4389120" y="435254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4352544"/>
            <a:ext cx="128016" cy="1353312"/>
          </a:xfrm>
          <a:prstGeom prst="rect">
            <a:avLst/>
          </a:prstGeom>
          <a:solidFill>
            <a:srgbClr val="DC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7720" y="4507992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NVIDIA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4526280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NVDA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17720" y="480974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DC4052"/>
                </a:solidFill>
                <a:latin typeface="Microsoft YaHei"/>
              </a:rPr>
              <a:t>美股 · AI芯片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7720" y="5111496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DC4052"/>
                </a:solidFill>
                <a:latin typeface="Microsoft YaHei"/>
              </a:rPr>
              <a:t>近约1年 +15.5%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7720" y="538581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204.87</a:t>
            </a:r>
          </a:p>
        </p:txBody>
      </p:sp>
      <p:pic>
        <p:nvPicPr>
          <p:cNvPr id="71" name="Picture 70" descr="NVD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5312" y="4928616"/>
            <a:ext cx="1783080" cy="621792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8211311" y="4352544"/>
            <a:ext cx="3493008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352544"/>
            <a:ext cx="128016" cy="1353312"/>
          </a:xfrm>
          <a:prstGeom prst="rect">
            <a:avLst/>
          </a:prstGeom>
          <a:solidFill>
            <a:srgbClr val="1A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39911" y="4507992"/>
            <a:ext cx="182880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450" b="1">
                <a:solidFill>
                  <a:srgbClr val="222F3C"/>
                </a:solidFill>
                <a:latin typeface="Microsoft YaHei"/>
              </a:rPr>
              <a:t>Tesla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68711" y="4526280"/>
            <a:ext cx="10058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50" b="0">
                <a:solidFill>
                  <a:srgbClr val="667380"/>
                </a:solidFill>
                <a:latin typeface="Microsoft YaHei"/>
              </a:rPr>
              <a:t>TSLA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9911" y="4809744"/>
            <a:ext cx="164592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950" b="1">
                <a:solidFill>
                  <a:srgbClr val="1A9C70"/>
                </a:solidFill>
                <a:latin typeface="Microsoft YaHei"/>
              </a:rPr>
              <a:t>美股 · 高波动成长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39911" y="5111496"/>
            <a:ext cx="1234440" cy="21945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250" b="1">
                <a:solidFill>
                  <a:srgbClr val="DC4052"/>
                </a:solidFill>
                <a:latin typeface="Microsoft YaHei"/>
              </a:rPr>
              <a:t>近约1年 +14.8%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39911" y="5385816"/>
            <a:ext cx="123444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880" b="0">
                <a:solidFill>
                  <a:srgbClr val="667380"/>
                </a:solidFill>
                <a:latin typeface="Microsoft YaHei"/>
              </a:rPr>
              <a:t>最新收盘 399.15</a:t>
            </a:r>
          </a:p>
        </p:txBody>
      </p:sp>
      <p:pic>
        <p:nvPicPr>
          <p:cNvPr id="79" name="Picture 78" descr="TSL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3" y="4928616"/>
            <a:ext cx="17830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A股案例：同一个市场里，股票性格差异很大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贵州茅台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600519.SH</a:t>
            </a:r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48"/>
            <a:ext cx="329184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消费龙头样本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-9.3%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宁德时代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300750.SZ</a:t>
            </a:r>
          </a:p>
        </p:txBody>
      </p:sp>
      <p:pic>
        <p:nvPicPr>
          <p:cNvPr id="16" name="Picture 15" descr="300750_S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55648"/>
            <a:ext cx="3291840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365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新能源成长样本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+45.5%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工商银行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601398.SH</a:t>
            </a:r>
          </a:p>
        </p:txBody>
      </p:sp>
      <p:pic>
        <p:nvPicPr>
          <p:cNvPr id="21" name="Picture 20" descr="601398_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755648"/>
            <a:ext cx="3291840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227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大型银行样本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+9.6%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港股案例：真实K线 + 港币/流动性/一手股数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腾讯控股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00700.HK</a:t>
            </a:r>
          </a:p>
        </p:txBody>
      </p:sp>
      <p:pic>
        <p:nvPicPr>
          <p:cNvPr id="11" name="Picture 10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48"/>
            <a:ext cx="329184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互联网平台样本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-22.8%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阿里巴巴-W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09988.HK</a:t>
            </a:r>
          </a:p>
        </p:txBody>
      </p:sp>
      <p:pic>
        <p:nvPicPr>
          <p:cNvPr id="16" name="Picture 15" descr="09988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55648"/>
            <a:ext cx="3291840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365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电商/云样本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-18.2%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汇丰控股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00005.HK</a:t>
            </a:r>
          </a:p>
        </p:txBody>
      </p:sp>
      <p:pic>
        <p:nvPicPr>
          <p:cNvPr id="21" name="Picture 20" descr="00005_H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755648"/>
            <a:ext cx="3291840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227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国际银行样本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+43.2%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美股案例：真实K线 + 1股起 + 高波动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AAPL</a:t>
            </a:r>
          </a:p>
        </p:txBody>
      </p:sp>
      <p:pic>
        <p:nvPicPr>
          <p:cNvPr id="11" name="Picture 10" descr="AA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48"/>
            <a:ext cx="329184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消费电子样本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+30.4%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NVIDIA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NVDA</a:t>
            </a:r>
          </a:p>
        </p:txBody>
      </p:sp>
      <p:pic>
        <p:nvPicPr>
          <p:cNvPr id="16" name="Picture 15" descr="NV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55648"/>
            <a:ext cx="3291840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365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AI芯片样本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+15.5%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078992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298448"/>
            <a:ext cx="1828800" cy="29260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22F3C"/>
                </a:solidFill>
                <a:latin typeface="Microsoft YaHei"/>
              </a:rPr>
              <a:t>Tesla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344168"/>
            <a:ext cx="96012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667380"/>
                </a:solidFill>
                <a:latin typeface="Microsoft YaHei"/>
              </a:rPr>
              <a:t>TSLA</a:t>
            </a:r>
          </a:p>
        </p:txBody>
      </p:sp>
      <p:pic>
        <p:nvPicPr>
          <p:cNvPr id="21" name="Picture 20" descr="TS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755648"/>
            <a:ext cx="3291840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22792" y="437083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高波动成长样本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近约1年涨跌幅 +14.8%</a:t>
            </a:r>
          </a:p>
          <a:p>
            <a:pPr marL="160000" indent="-100000">
              <a:spcAft>
                <a:spcPts val="700"/>
              </a:spcAft>
              <a:defRPr sz="1180">
                <a:solidFill>
                  <a:srgbClr val="222F3C"/>
                </a:solidFill>
                <a:latin typeface="Microsoft YaHei"/>
              </a:defRPr>
            </a:pPr>
            <a:r>
              <a:t>用来练趋势、均线和风险问题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K线一页讲清：先读四个价格，再看位置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4008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17320"/>
            <a:ext cx="5897880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102352"/>
            <a:ext cx="580644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250" b="0">
                <a:solidFill>
                  <a:srgbClr val="667380"/>
                </a:solidFill>
                <a:latin typeface="Microsoft YaHei"/>
              </a:rPr>
              <a:t>真实行情图：贵州茅台 600519.SH，日K + MA5/20/60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78992"/>
            <a:ext cx="4315968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417320"/>
            <a:ext cx="3474720" cy="31089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222F3C"/>
                </a:solidFill>
                <a:latin typeface="Microsoft YaHei"/>
              </a:rPr>
              <a:t>只讲这三件事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057400"/>
            <a:ext cx="3429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700">
                <a:solidFill>
                  <a:srgbClr val="222F3C"/>
                </a:solidFill>
                <a:latin typeface="Microsoft YaHei"/>
              </a:defRPr>
            </a:pPr>
            <a:r>
              <a:t>一根K线 = 开盘、收盘、最高、最低</a:t>
            </a:r>
          </a:p>
          <a:p>
            <a:pPr marL="160000" indent="-100000">
              <a:spcAft>
                <a:spcPts val="700"/>
              </a:spcAft>
              <a:defRPr sz="1700">
                <a:solidFill>
                  <a:srgbClr val="222F3C"/>
                </a:solidFill>
                <a:latin typeface="Microsoft YaHei"/>
              </a:defRPr>
            </a:pPr>
            <a:r>
              <a:t>阳线/阴线只说明当日强弱，不等于未来方向</a:t>
            </a:r>
          </a:p>
          <a:p>
            <a:pPr marL="160000" indent="-100000">
              <a:spcAft>
                <a:spcPts val="700"/>
              </a:spcAft>
              <a:defRPr sz="1700">
                <a:solidFill>
                  <a:srgbClr val="222F3C"/>
                </a:solidFill>
                <a:latin typeface="Microsoft YaHei"/>
              </a:defRPr>
            </a:pPr>
            <a:r>
              <a:t>形态必须放在趋势、位置、成交量里解释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5074920"/>
            <a:ext cx="3611880" cy="47548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22F3C"/>
                </a:solidFill>
                <a:latin typeface="Microsoft YaHei"/>
              </a:rPr>
              <a:t>讲K线不要背形态大全，直接拿真实图问：价格在哪？量有没有配合？错了怎么退出？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均线：用 NVIDIA 这类趋势股讲更直观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MA5：短期节奏，反应快但噪声大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MA20：常用中短期趋势参考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MA60：观察阶段趋势和成本区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成交量：用宁德时代看放量和波动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放量说明参与度提高，不等于一定上涨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突破、跌破、冲高回落都要配合量来看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成交量最好回答：这次价格变化有没有资金参与？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低波动 vs 高波动：同样一手仓位，心理压力不同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15568"/>
            <a:ext cx="50749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325880"/>
            <a:ext cx="2286000" cy="27432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22F3C"/>
                </a:solidFill>
                <a:latin typeface="Microsoft YaHei"/>
              </a:rPr>
              <a:t>工商银行 601398.SH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371600"/>
            <a:ext cx="178308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1">
                <a:solidFill>
                  <a:srgbClr val="4687D2"/>
                </a:solidFill>
                <a:latin typeface="Microsoft YaHei"/>
              </a:rPr>
              <a:t>A股 · 大型银行</a:t>
            </a:r>
          </a:p>
        </p:txBody>
      </p:sp>
      <p:pic>
        <p:nvPicPr>
          <p:cNvPr id="11" name="Picture 10" descr="601398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37360"/>
            <a:ext cx="4663440" cy="2971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407" y="5029200"/>
            <a:ext cx="4389120" cy="31089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DC4052"/>
                </a:solidFill>
                <a:latin typeface="Microsoft YaHei"/>
              </a:rPr>
              <a:t>近约1年涨跌幅 +9.6%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115568"/>
            <a:ext cx="50749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325880"/>
            <a:ext cx="2286000" cy="27432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22F3C"/>
                </a:solidFill>
                <a:latin typeface="Microsoft YaHei"/>
              </a:rPr>
              <a:t>Tesla TSLA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7" y="1371600"/>
            <a:ext cx="178308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1">
                <a:solidFill>
                  <a:srgbClr val="1A9C70"/>
                </a:solidFill>
                <a:latin typeface="Microsoft YaHei"/>
              </a:rPr>
              <a:t>美股 · 高波动成长</a:t>
            </a:r>
          </a:p>
        </p:txBody>
      </p:sp>
      <p:pic>
        <p:nvPicPr>
          <p:cNvPr id="16" name="Picture 15" descr="TS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5" y="1737360"/>
            <a:ext cx="4663440" cy="2971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6247" y="5029200"/>
            <a:ext cx="4389120" cy="31089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DC4052"/>
                </a:solidFill>
                <a:latin typeface="Microsoft YaHei"/>
              </a:rPr>
              <a:t>近约1年涨跌幅 +14.8%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6172200"/>
            <a:ext cx="960120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250" b="1">
                <a:solidFill>
                  <a:srgbClr val="CBD8E3"/>
                </a:solidFill>
                <a:latin typeface="Microsoft YaHei"/>
              </a:rPr>
              <a:t>工商银行更适合讲防守属性；Tesla 更适合讲波动、仓位和止损。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消费龙头 vs AI成长：趋势、估值和情绪不是一回事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15568"/>
            <a:ext cx="50749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325880"/>
            <a:ext cx="2286000" cy="27432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22F3C"/>
                </a:solidFill>
                <a:latin typeface="Microsoft YaHei"/>
              </a:rPr>
              <a:t>贵州茅台 600519.SH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371600"/>
            <a:ext cx="178308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1">
                <a:solidFill>
                  <a:srgbClr val="DC4052"/>
                </a:solidFill>
                <a:latin typeface="Microsoft YaHei"/>
              </a:rPr>
              <a:t>A股 · 消费龙头</a:t>
            </a:r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37360"/>
            <a:ext cx="4663440" cy="2971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407" y="5029200"/>
            <a:ext cx="4389120" cy="31089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A9C70"/>
                </a:solidFill>
                <a:latin typeface="Microsoft YaHei"/>
              </a:rPr>
              <a:t>近约1年涨跌幅 -9.3%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115568"/>
            <a:ext cx="507492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325880"/>
            <a:ext cx="2286000" cy="27432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22F3C"/>
                </a:solidFill>
                <a:latin typeface="Microsoft YaHei"/>
              </a:rPr>
              <a:t>NVIDIA NVDA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7" y="1371600"/>
            <a:ext cx="1783080" cy="1828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1">
                <a:solidFill>
                  <a:srgbClr val="DC4052"/>
                </a:solidFill>
                <a:latin typeface="Microsoft YaHei"/>
              </a:rPr>
              <a:t>美股 · AI芯片</a:t>
            </a:r>
          </a:p>
        </p:txBody>
      </p:sp>
      <p:pic>
        <p:nvPicPr>
          <p:cNvPr id="16" name="Picture 15" descr="NV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5" y="1737360"/>
            <a:ext cx="4663440" cy="2971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6247" y="5029200"/>
            <a:ext cx="4389120" cy="310896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DC4052"/>
                </a:solidFill>
                <a:latin typeface="Microsoft YaHei"/>
              </a:rPr>
              <a:t>近约1年涨跌幅 +15.5%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6172200"/>
            <a:ext cx="9601200" cy="22860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250" b="1">
                <a:solidFill>
                  <a:srgbClr val="CBD8E3"/>
                </a:solidFill>
                <a:latin typeface="Microsoft YaHei"/>
              </a:rPr>
              <a:t>不要把“好公司”“热门赛道”和“现在适合买”混为一谈。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A股规则页：用案例解释 T+1 和涨跌幅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今天买入的A股股票，通常不能当天卖出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不同板块涨跌幅和新股规则不同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下单前先确认代码所属市场和板块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港股规则页：无普通涨跌停，不等于风险更小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港股通常 T+2 交收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一手股数不统一，交易前必须看清数量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无普通日涨跌停，价差和流动性更重要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美股规则页：盘前盘后更自由，也更容易滑点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A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核心交易时段通常为美东 9:30-16:00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多数证券已进入 T+1 结算周期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盘前盘后成交少时，市价单风险更高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MACD/RSI/KDJ/布林线：一页定位就够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MACD：看趋势动能，不是买卖命令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RSI/KDJ：看短期强弱，假信号很多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布林线：看波动区间，不能机械碰线买卖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交易计划：一张流程图够新手先用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32304"/>
            <a:ext cx="14173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16352"/>
            <a:ext cx="14173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能不能买卖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32888" y="2587752"/>
            <a:ext cx="292608" cy="310896"/>
          </a:xfrm>
          <a:prstGeom prst="rightArrow">
            <a:avLst/>
          </a:prstGeom>
          <a:solidFill>
            <a:srgbClr val="A6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2402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3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432304"/>
            <a:ext cx="14173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816352"/>
            <a:ext cx="14173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趋势/均线/支撑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73168" y="2587752"/>
            <a:ext cx="292608" cy="310896"/>
          </a:xfrm>
          <a:prstGeom prst="rightArrow">
            <a:avLst/>
          </a:prstGeom>
          <a:solidFill>
            <a:srgbClr val="A6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6360" y="22402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DCA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432304"/>
            <a:ext cx="14173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816352"/>
            <a:ext cx="14173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止损与仓位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13448" y="2587752"/>
            <a:ext cx="292608" cy="310896"/>
          </a:xfrm>
          <a:prstGeom prst="rightArrow">
            <a:avLst/>
          </a:prstGeom>
          <a:solidFill>
            <a:srgbClr val="A6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6640" y="22402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DC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2" y="2432304"/>
            <a:ext cx="14173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2816352"/>
            <a:ext cx="14173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按计划下单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53728" y="2587752"/>
            <a:ext cx="292608" cy="310896"/>
          </a:xfrm>
          <a:prstGeom prst="rightArrow">
            <a:avLst/>
          </a:prstGeom>
          <a:solidFill>
            <a:srgbClr val="A6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6920" y="22402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A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2432304"/>
            <a:ext cx="1417320" cy="25603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816352"/>
            <a:ext cx="1417320" cy="164592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记录错误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09160"/>
            <a:ext cx="9966960" cy="54864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每次买入前，只回答三个问题：为什么买？错了在哪里止损？赚了怎么卖？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风控：先决定亏多少，再决定买多少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05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单笔亏损上限先写出来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不要因为亏损而无计划加仓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现金也是仓位，等待也是选择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止盈止损：退出规则要在买入前写好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988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止损：价格、技术位、资金比例、时间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止盈：分批、移动止盈、趋势破坏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没有退出计划，短线容易变成长线被动持有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复盘表：把每次交易变成下一次的素材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234440"/>
          <a:ext cx="10652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498348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记录什么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关键问题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买入理由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规则、趋势、位置、量能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是不是有明确依据？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风险设定</a:t>
                      </a:r>
                    </a:p>
                  </a:txBody>
                  <a:tcP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仓位、止损、最大亏损</a:t>
                      </a:r>
                    </a:p>
                  </a:txBody>
                  <a:tcP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错了是否可承受？</a:t>
                      </a:r>
                    </a:p>
                  </a:txBody>
                  <a:tcPr>
                    <a:solidFill>
                      <a:srgbClr val="EEF5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卖出理由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止盈/止损/条件变化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是按计划还是情绪？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结果归因</a:t>
                      </a:r>
                    </a:p>
                  </a:txBody>
                  <a:tcP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市场、行业、个股、执行</a:t>
                      </a:r>
                    </a:p>
                  </a:txBody>
                  <a:tcP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赚亏来自能力还是运气？</a:t>
                      </a:r>
                    </a:p>
                  </a:txBody>
                  <a:tcPr>
                    <a:solidFill>
                      <a:srgbClr val="EEF5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下次改进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保留、删除、调整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下一笔具体改变什么？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新手最常见错误：看对图，也可能做错交易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078992"/>
            <a:ext cx="6629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608076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078992"/>
            <a:ext cx="4069080" cy="507492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追涨杀跌：买在兴奋点，卖在恐慌点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只看形态：忽视规则、公告、财报和费用</a:t>
            </a:r>
          </a:p>
          <a:p>
            <a:pPr marL="160000" indent="-100000">
              <a:spcAft>
                <a:spcPts val="7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不复盘：同一个错误反复出现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"/>
            <a:ext cx="8229600" cy="411480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最后：真实图表不是答案，只是证据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0574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950" b="0">
                <a:solidFill>
                  <a:srgbClr val="BED2E2"/>
                </a:solidFill>
                <a:latin typeface="Microsoft YaHei"/>
              </a:rPr>
              <a:t>真实行情图解版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3152" y="6601968"/>
            <a:ext cx="411480" cy="146304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r"/>
            <a:r>
              <a:rPr sz="800" b="0">
                <a:solidFill>
                  <a:srgbClr val="A0B0BE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972800" cy="201168"/>
          </a:xfrm>
          <a:prstGeom prst="rect">
            <a:avLst/>
          </a:prstGeom>
          <a:noFill/>
        </p:spPr>
        <p:txBody>
          <a:bodyPr wrap="none" lIns="54864" rIns="54864" tIns="27432" bIns="27432" anchor="t">
            <a:spAutoFit/>
          </a:bodyPr>
          <a:lstStyle/>
          <a:p>
            <a:pPr algn="l"/>
            <a:r>
              <a:rPr sz="750" b="0">
                <a:solidFill>
                  <a:srgbClr val="B9C7D3"/>
                </a:solidFill>
                <a:latin typeface="Microsoft YaHei"/>
              </a:rPr>
              <a:t>真实股票仅作教学样本，不构成投资建议；行情数据来自公开接口，生成时间为 2026-06-12。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325880"/>
            <a:ext cx="10241280" cy="4480560"/>
          </a:xfrm>
          <a:prstGeom prst="roundRect">
            <a:avLst>
              <a:gd name="adj" fmla="val 6000"/>
            </a:avLst>
          </a:prstGeom>
          <a:solidFill>
            <a:srgbClr val="EEF5FA"/>
          </a:solidFill>
          <a:ln w="889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74519"/>
            <a:ext cx="9052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00" indent="-100000">
              <a:spcAft>
                <a:spcPts val="7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规则决定你能怎么交易：A股、港股、美股先分清制度差异</a:t>
            </a:r>
          </a:p>
          <a:p>
            <a:pPr marL="160000" indent="-100000">
              <a:spcAft>
                <a:spcPts val="7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K线和均线帮助观察市场，但不负责保证收益</a:t>
            </a:r>
          </a:p>
          <a:p>
            <a:pPr marL="160000" indent="-100000">
              <a:spcAft>
                <a:spcPts val="7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真实股票案例只用于训练判断，不构成投资建议</a:t>
            </a:r>
          </a:p>
          <a:p>
            <a:pPr marL="160000" indent="-100000">
              <a:spcAft>
                <a:spcPts val="7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新手最重要的不是预测，而是控制仓位、止损和复盘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