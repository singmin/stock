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713232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ED1E0"/>
                </a:solidFill>
                <a:latin typeface="Microsoft YaHei"/>
              </a:rPr>
              <a:t>炒股入门 · 从买卖到K线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8595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炒股基础知识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67712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DAE7F0"/>
                </a:solidFill>
                <a:latin typeface="Microsoft YaHei"/>
              </a:rPr>
              <a:t>完全零基础也能听懂的规则课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932688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0424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A股</a:t>
            </a:r>
          </a:p>
        </p:txBody>
      </p:sp>
      <p:pic>
        <p:nvPicPr>
          <p:cNvPr id="9" name="Picture 8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051560"/>
            <a:ext cx="3364992" cy="9875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2532888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6426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港股</a:t>
            </a:r>
          </a:p>
        </p:txBody>
      </p:sp>
      <p:pic>
        <p:nvPicPr>
          <p:cNvPr id="12" name="Picture 11" descr="00700_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651760"/>
            <a:ext cx="3364992" cy="9875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4133087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42428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美股</a:t>
            </a:r>
          </a:p>
        </p:txBody>
      </p:sp>
      <p:pic>
        <p:nvPicPr>
          <p:cNvPr id="15" name="Picture 14" descr="AAP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4251959"/>
            <a:ext cx="3364992" cy="987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5742432"/>
            <a:ext cx="6583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DDBE6"/>
                </a:solidFill>
                <a:latin typeface="Microsoft YaHei"/>
              </a:rPr>
              <a:t>目标：会买卖、会算赚亏、懂基本规则、看懂最基础K线。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股票是什么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股票就是公司的一小份所有权。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买股票 = 买这家公司的一小份。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股价每天会变。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变贵可能赚钱，变便宜可能亏钱。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股票就是公司的一小份所有权。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什么叫买入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买入 = 你花钱，把股票买到自己账户里。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你付出现金。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账户里多了股票。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买入价就是你买到的价格。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买入 = 你花钱，把股票买到自己账户里。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什么叫卖出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卖出 = 你把股票卖掉，换回现金。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你交出股票。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账户里多了现金。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卖出价就是你卖掉的价格。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卖出 = 你把股票卖掉，换回现金。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买入、卖出、盈利：用小学数学算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低价买，高价卖，扣掉费用后剩下的才叫盈利。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4687D2"/>
                </a:solidFill>
                <a:latin typeface="Microsoft YaHei"/>
              </a:rPr>
              <a:t>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10元/股 × 100股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花 1000 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89C6F"/>
                </a:solidFill>
                <a:latin typeface="Microsoft YaHei"/>
              </a:rPr>
              <a:t>卖出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12元/股 × 100股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拿回 1200 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DA4856"/>
                </a:solidFill>
                <a:latin typeface="Microsoft YaHei"/>
              </a:rPr>
              <a:t>盈利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1200 - 1000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赚 200 元（未扣费）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66360"/>
            <a:ext cx="97840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真实交易还要扣手续费、税费、平台费，软件里的盈利通常会自动扣掉一部分成本。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亏损：卖得比买得便宜，就亏了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亏损不是软件故障，是卖出价格低于买入成本。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331720"/>
            <a:ext cx="973836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687D2"/>
                </a:solidFill>
                <a:latin typeface="Microsoft YaHei"/>
              </a:rPr>
              <a:t>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10元 × 100股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89C6F"/>
                </a:solidFill>
                <a:latin typeface="Microsoft YaHei"/>
              </a:rPr>
              <a:t>卖出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8元 × 100股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DA4856"/>
                </a:solidFill>
                <a:latin typeface="Microsoft YaHei"/>
              </a:rPr>
              <a:t>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亏 200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230368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新手先记住：亏损不可怕，不知道最多会亏多少才可怕。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账户里最常见的几个词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账户就像钱包 + 仓库：现金在钱包，股票在仓库。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687D2"/>
                </a:solidFill>
                <a:latin typeface="Microsoft YaHei"/>
              </a:rPr>
              <a:t>现金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还没买股票的钱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9C6F"/>
                </a:solidFill>
                <a:latin typeface="Microsoft YaHei"/>
              </a:rPr>
              <a:t>持仓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你已经买到的股票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A63A"/>
                </a:solidFill>
                <a:latin typeface="Microsoft YaHei"/>
              </a:rPr>
              <a:t>成本价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你买入后的平均价格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49039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913631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AB2BE"/>
                </a:solidFill>
                <a:latin typeface="Microsoft YaHei"/>
              </a:rPr>
              <a:t>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2277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现在能继续买的钱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49039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913631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DA4856"/>
                </a:solidFill>
                <a:latin typeface="Microsoft YaHei"/>
              </a:rPr>
              <a:t>可取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92277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现在能提现的钱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下单：你必须填四件事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一次下单，就是告诉系统：买/卖什么、多少钱、多少股。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买入 or 卖出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3AB2BE"/>
                </a:solidFill>
                <a:latin typeface="Microsoft YaHei"/>
              </a:rPr>
              <a:t>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是哪只股票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0A63A"/>
                </a:solidFill>
                <a:latin typeface="Microsoft YaHei"/>
              </a:rPr>
              <a:t>价格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你愿意的价格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89C6F"/>
                </a:solidFill>
                <a:latin typeface="Microsoft YaHei"/>
              </a:rPr>
              <a:t>数量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买/卖多少股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9966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方向填错最危险：想买填成卖，想卖填成买，结果会完全相反。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限价单和市价单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限价单管价格，市价单求速度。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限价单：不到这个价就不成交。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市价单：尽快成交，但价格可能不理想。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新手优先学会用限价单。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限价单管价格，市价单求速度。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成交：不是你点了买，就一定买得到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成交 = 你的价格和别人愿意交易的价格对上了。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你想买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出价 10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75887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有人愿意 10 元卖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14884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468880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89C6F"/>
                </a:solidFill>
                <a:latin typeface="Microsoft YaHei"/>
              </a:rPr>
              <a:t>价格对上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090672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买方 + 卖方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675887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这笔交易才成立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148840"/>
            <a:ext cx="2971800" cy="251460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542032"/>
            <a:ext cx="2423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下单 ≠ 成交。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没人接，就挂着。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成交后才算买到/卖掉。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99669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交易市场不是商店，不是你想买就一定马上有货，想卖就一定马上有人接。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买一卖一、五档盘口：看谁在排队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买一是最高的买价，卖一是最低的卖价。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57400"/>
            <a:ext cx="448056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31720"/>
            <a:ext cx="38404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189C6F"/>
                </a:solidFill>
                <a:latin typeface="Microsoft YaHei"/>
              </a:rPr>
              <a:t>卖盘：有人想卖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8892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8892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8892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900股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449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0449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449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600股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009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3009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009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800股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57015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557015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57015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500股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8130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8130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8130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1200股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24528"/>
            <a:ext cx="38404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DA4856"/>
                </a:solidFill>
                <a:latin typeface="Microsoft YaHei"/>
              </a:rPr>
              <a:t>买盘：有人想买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6451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6451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6451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1500股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9011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9011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9.99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9011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700股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157216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157216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9.98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157216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900股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4132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54132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9.97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4132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400股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66928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566928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9.96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66928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1000股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7880" y="2057400"/>
            <a:ext cx="5166360" cy="33375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你想马上买，通常看卖一。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你想马上卖，通常看买一。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买一卖一差得越远，成交成本可能越高。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成交优先：谁更有诚意，谁排前面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价格优先；价格一样，时间优先。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4028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4203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DA4856"/>
                </a:solidFill>
                <a:latin typeface="Microsoft YaHei"/>
              </a:rPr>
              <a:t>买入排队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06324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出价 10.02 的人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排在 10.01 前面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因为买得更贵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4028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54203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89C6F"/>
                </a:solidFill>
                <a:latin typeface="Microsoft YaHei"/>
              </a:rPr>
              <a:t>卖出排队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06324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卖价 9.98 的人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排在 9.99 前面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因为卖得更便宜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40280"/>
            <a:ext cx="2743200" cy="246888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4687D2"/>
                </a:solidFill>
                <a:latin typeface="Microsoft YaHei"/>
              </a:rPr>
              <a:t>价格一样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315468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谁先下单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谁先排队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所以新手要明白：挂单价格太保守，可能一直成交不了。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撤单和未成交：挂着的可以撤，成交的不能反悔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撤单只对还没成交的部分有效。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3063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2606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4687D2"/>
                </a:solidFill>
                <a:latin typeface="Microsoft YaHei"/>
              </a:rPr>
              <a:t>未成交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1F2D3A"/>
                </a:solidFill>
                <a:latin typeface="Microsoft YaHei"/>
              </a:rPr>
              <a:t>还在排队，可以撤单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423160"/>
            <a:ext cx="3063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606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0A63A"/>
                </a:solidFill>
                <a:latin typeface="Microsoft YaHei"/>
              </a:rPr>
              <a:t>部分成交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42900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1F2D3A"/>
                </a:solidFill>
                <a:latin typeface="Microsoft YaHei"/>
              </a:rPr>
              <a:t>成交的留下，剩余的可撤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423160"/>
            <a:ext cx="3063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743200"/>
            <a:ext cx="2606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DA4856"/>
                </a:solidFill>
                <a:latin typeface="Microsoft YaHei"/>
              </a:rPr>
              <a:t>全部成交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42900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1F2D3A"/>
                </a:solidFill>
                <a:latin typeface="Microsoft YaHei"/>
              </a:rPr>
              <a:t>交易已经成立，不能撤回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230368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一句话：撤单不是后悔药，只能撤还没真正成交的订单。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价格笼子：报价不能太离谱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价格笼子 = 系统给报价划一个合理范围，防止乌龙单。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48006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4160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例子：当前附近价格 10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90672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DA4856"/>
                </a:solidFill>
                <a:latin typeface="Microsoft YaHei"/>
              </a:rPr>
              <a:t>你想 12 元买入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离当前价格太远，可能被系统拦住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15968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5B6A78"/>
                </a:solidFill>
                <a:latin typeface="Microsoft YaHei"/>
              </a:rPr>
              <a:t>目的：防止手滑报错价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103120"/>
            <a:ext cx="5074920" cy="315468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42032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它不是涨停跌停。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它限制离市场价太远的申报。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A股连续竞价阶段常见有约 2% 报价约束，具体以交易所规则为准。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价格笼子像护栏，不预测涨跌，只防止报单太夸张。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A股、港股、美股：交易规则不一样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重点分清：能不能当天卖，和几天后交收，是两件事。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240280"/>
          <a:ext cx="107899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926080"/>
                <a:gridCol w="2286000"/>
                <a:gridCol w="4526280"/>
              </a:tblGrid>
              <a:tr h="81153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当天买卖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交收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新手提醒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A股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股票通常 T+1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当天买入通常不能当天卖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资金/股票交收另有规则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先看板块和涨跌幅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港股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可日内买卖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常说 T+0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通常 T+2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一手股数不统一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美股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可日内买卖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常说 T+0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多数证券 T+1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频繁日内交易看账户规则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交易时间和交易阶段：不是全天都一样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开盘前、盘中、收盘前，交易规则和价格形成方式可能不同。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3154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42032"/>
            <a:ext cx="27889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DA4856"/>
                </a:solidFill>
                <a:latin typeface="Microsoft YaHei"/>
              </a:rPr>
              <a:t>A股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273552"/>
            <a:ext cx="2560320" cy="8412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0">
                <a:solidFill>
                  <a:srgbClr val="1F2D3A"/>
                </a:solidFill>
                <a:latin typeface="Microsoft YaHei"/>
              </a:rPr>
              <a:t>集合竞价：开盘前集中撮合
连续竞价：盘中实时撮合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148840"/>
            <a:ext cx="3154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42032"/>
            <a:ext cx="27889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3AB2BE"/>
                </a:solidFill>
                <a:latin typeface="Microsoft YaHei"/>
              </a:rPr>
              <a:t>港股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273552"/>
            <a:ext cx="2560320" cy="8412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0">
                <a:solidFill>
                  <a:srgbClr val="1F2D3A"/>
                </a:solidFill>
                <a:latin typeface="Microsoft YaHei"/>
              </a:rPr>
              <a:t>开市前、持续交易、收市竞价
另有午间休市和假期安排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148840"/>
            <a:ext cx="3154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2542032"/>
            <a:ext cx="27889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美股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273552"/>
            <a:ext cx="2560320" cy="8412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0">
                <a:solidFill>
                  <a:srgbClr val="1F2D3A"/>
                </a:solidFill>
                <a:latin typeface="Microsoft YaHei"/>
              </a:rPr>
              <a:t>核心时段：美东 9:30-16:00
盘前盘后可交易，但流动性可能更差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新手重点：盘前盘后、收盘竞价不是普通盘中，别随便用市价单。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A股涨停、跌停：一天最多涨跌多少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涨停/跌停 = 当天价格涨跌到上限或下限。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32461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  <a:latin typeface="Microsoft YaHei"/>
              </a:rPr>
              <a:t>昨天收盘 10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涨停价约 11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89C6F"/>
                </a:solidFill>
                <a:latin typeface="Microsoft YaHei"/>
              </a:rPr>
              <a:t>跌停价约 9 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057400"/>
            <a:ext cx="32461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377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涨停不等于稳赚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63240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可能买不到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749039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第二天也可能低开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057400"/>
            <a:ext cx="2971800" cy="297180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2423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主板常见 ±10%。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ST 常见 ±5%。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创业板/科创板常见 ±20%。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3212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涨跌停是风控规则，不是买卖理由；新股等特殊情况另算。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港股、美股：没有A股式涨跌停，但有波动控制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港股/美股更开放，所以更要理解冷静期和熔断。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49834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434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3AB2BE"/>
                </a:solidFill>
                <a:latin typeface="Microsoft YaHei"/>
              </a:rPr>
              <a:t>港股：VCM 波动调节机制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07792"/>
            <a:ext cx="4114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不是A股式每日涨跌停。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部分股票短时间剧烈波动，会进入冷静期。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冷静期内通常限制价格范围，但市场仍可交易。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4892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4343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E0A63A"/>
                </a:solidFill>
                <a:latin typeface="Microsoft YaHei"/>
              </a:rPr>
              <a:t>美股：大盘熔断 + 个股暂停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907792"/>
            <a:ext cx="4069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大盘熔断看 S&amp;P 500 跌幅。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常见触发线：7%、13%、20%。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个股也可能因波动过大临时暂停。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Microsoft YaHei"/>
              </a:rPr>
              <a:t>熔断不是救市按钮，只是让市场暂停一下，给大家重新报价的时间。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停牌、复牌、ST：看到这些先停一下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有些股票不是随时都能买卖，有些股票风险标签更高。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4687D2"/>
                </a:solidFill>
                <a:latin typeface="Microsoft YaHei"/>
              </a:rPr>
              <a:t>停牌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暂时不能交易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1945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89C6F"/>
                </a:solidFill>
                <a:latin typeface="Microsoft YaHei"/>
              </a:rPr>
              <a:t>复牌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恢复交易，波动可能变大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1945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DA4856"/>
                </a:solidFill>
                <a:latin typeface="Microsoft YaHei"/>
              </a:rPr>
              <a:t>ST/风险警示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1F2D3A"/>
                </a:solidFill>
                <a:latin typeface="Microsoft YaHei"/>
              </a:rPr>
              <a:t>公司风险较高，涨跌幅也可能不同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新手看法：有风险标签、停复牌公告的股票，先别急着碰。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分红、除权除息：不是天上掉钱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分红会给你钱，但股价通常也会做相应调整。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4800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4206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简单例子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63240"/>
            <a:ext cx="3886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650">
                <a:solidFill>
                  <a:srgbClr val="1F2D3A"/>
                </a:solidFill>
                <a:latin typeface="Microsoft YaHei"/>
              </a:defRPr>
            </a:pPr>
            <a:r>
              <a:t>股价 10 元。</a:t>
            </a:r>
          </a:p>
          <a:p>
            <a:pPr marL="180000" indent="-105000">
              <a:spcAft>
                <a:spcPts val="900"/>
              </a:spcAft>
              <a:defRPr sz="1650">
                <a:solidFill>
                  <a:srgbClr val="1F2D3A"/>
                </a:solidFill>
                <a:latin typeface="Microsoft YaHei"/>
              </a:defRPr>
            </a:pPr>
            <a:r>
              <a:t>每股分红 1 元。</a:t>
            </a:r>
          </a:p>
          <a:p>
            <a:pPr marL="180000" indent="-105000">
              <a:spcAft>
                <a:spcPts val="900"/>
              </a:spcAft>
              <a:defRPr sz="1650">
                <a:solidFill>
                  <a:srgbClr val="1F2D3A"/>
                </a:solidFill>
                <a:latin typeface="Microsoft YaHei"/>
              </a:defRPr>
            </a:pPr>
            <a:r>
              <a:t>除息后参考价可能变成约 9 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48840"/>
            <a:ext cx="4892040" cy="28803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4160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分红不是白捡。</a:t>
            </a:r>
          </a:p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重点看公司长期赚钱能力。</a:t>
            </a:r>
          </a:p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不要只因为“要分红”就买。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新手看法：分红是现金流，不是保证赚钱；股价和税费也要一起看。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真实行情图长什么样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行情图就是把价格变化画出来。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上面：价格走势。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中间彩线：均线。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下面：成交量。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一根K线怎么读：开盘、收盘、最高、最低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一根K线只说明这一段时间价格怎么走过。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61264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0700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67712"/>
            <a:ext cx="5715000" cy="3520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86600" y="1993392"/>
            <a:ext cx="443484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281160" y="2514600"/>
            <a:ext cx="0" cy="2971800"/>
          </a:xfrm>
          <a:prstGeom prst="line">
            <a:avLst/>
          </a:prstGeom>
          <a:ln w="25400">
            <a:solidFill>
              <a:srgbClr val="D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961119" y="3264408"/>
            <a:ext cx="640080" cy="1234440"/>
          </a:xfrm>
          <a:prstGeom prst="rect">
            <a:avLst/>
          </a:prstGeom>
          <a:solidFill>
            <a:srgbClr val="DA4856"/>
          </a:solidFill>
          <a:ln>
            <a:solidFill>
              <a:srgbClr val="D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32304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Microsoft YaHei"/>
              </a:rPr>
              <a:t>最高价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3273552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Microsoft YaHei"/>
              </a:rPr>
              <a:t>收盘价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078224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Microsoft YaHei"/>
              </a:rPr>
              <a:t>开盘价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394960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Microsoft YaHei"/>
              </a:rPr>
              <a:t>最低价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489204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250">
                <a:solidFill>
                  <a:srgbClr val="1F2D3A"/>
                </a:solidFill>
                <a:latin typeface="Microsoft YaHei"/>
              </a:defRPr>
            </a:pPr>
            <a:r>
              <a:t>实体看开盘和收盘。</a:t>
            </a:r>
          </a:p>
          <a:p>
            <a:pPr marL="180000" indent="-105000">
              <a:spcAft>
                <a:spcPts val="900"/>
              </a:spcAft>
              <a:defRPr sz="1250">
                <a:solidFill>
                  <a:srgbClr val="1F2D3A"/>
                </a:solidFill>
                <a:latin typeface="Microsoft YaHei"/>
              </a:defRPr>
            </a:pPr>
            <a:r>
              <a:t>影线看最高和最低。</a:t>
            </a:r>
          </a:p>
          <a:p>
            <a:pPr marL="180000" indent="-105000">
              <a:spcAft>
                <a:spcPts val="900"/>
              </a:spcAft>
              <a:defRPr sz="1250">
                <a:solidFill>
                  <a:srgbClr val="1F2D3A"/>
                </a:solidFill>
                <a:latin typeface="Microsoft YaHei"/>
              </a:defRPr>
            </a:pPr>
            <a:r>
              <a:t>不要只靠一根K线判断明天。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K线常见形态：先认形状，不急着预测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K线形态只是观察工具，不是涨跌保证。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1101852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216152" y="2990088"/>
            <a:ext cx="0" cy="2057400"/>
          </a:xfrm>
          <a:prstGeom prst="line">
            <a:avLst/>
          </a:prstGeom>
          <a:ln w="25400">
            <a:solidFill>
              <a:srgbClr val="D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87552" y="3401568"/>
            <a:ext cx="457200" cy="1325880"/>
          </a:xfrm>
          <a:prstGeom prst="rect">
            <a:avLst/>
          </a:prstGeom>
          <a:solidFill>
            <a:srgbClr val="DA4856"/>
          </a:solidFill>
          <a:ln w="15240">
            <a:solidFill>
              <a:srgbClr val="D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大阳线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04872" y="2944368"/>
            <a:ext cx="0" cy="2148840"/>
          </a:xfrm>
          <a:prstGeom prst="line">
            <a:avLst/>
          </a:prstGeom>
          <a:ln w="25400">
            <a:solidFill>
              <a:srgbClr val="189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176272" y="3127248"/>
            <a:ext cx="457200" cy="1600200"/>
          </a:xfrm>
          <a:prstGeom prst="rect">
            <a:avLst/>
          </a:prstGeom>
          <a:solidFill>
            <a:srgbClr val="189C6F"/>
          </a:solidFill>
          <a:ln w="15240">
            <a:solidFill>
              <a:srgbClr val="18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大阴线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93592" y="2807208"/>
            <a:ext cx="0" cy="2103120"/>
          </a:xfrm>
          <a:prstGeom prst="line">
            <a:avLst/>
          </a:prstGeom>
          <a:ln w="25400">
            <a:solidFill>
              <a:srgbClr val="D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364992" y="4315968"/>
            <a:ext cx="457200" cy="320040"/>
          </a:xfrm>
          <a:prstGeom prst="rect">
            <a:avLst/>
          </a:prstGeom>
          <a:solidFill>
            <a:srgbClr val="DA4856"/>
          </a:solidFill>
          <a:ln w="15240">
            <a:solidFill>
              <a:srgbClr val="D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长上影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82312" y="3310128"/>
            <a:ext cx="0" cy="1965960"/>
          </a:xfrm>
          <a:prstGeom prst="line">
            <a:avLst/>
          </a:prstGeom>
          <a:ln w="25400">
            <a:solidFill>
              <a:srgbClr val="189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53712" y="3447288"/>
            <a:ext cx="457200" cy="274320"/>
          </a:xfrm>
          <a:prstGeom prst="rect">
            <a:avLst/>
          </a:prstGeom>
          <a:solidFill>
            <a:srgbClr val="189C6F"/>
          </a:solidFill>
          <a:ln w="15240">
            <a:solidFill>
              <a:srgbClr val="18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长下影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71031" y="2990088"/>
            <a:ext cx="0" cy="2194560"/>
          </a:xfrm>
          <a:prstGeom prst="line">
            <a:avLst/>
          </a:prstGeom>
          <a:ln w="25400">
            <a:solidFill>
              <a:srgbClr val="E0A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742431" y="3968496"/>
            <a:ext cx="457200" cy="54864"/>
          </a:xfrm>
          <a:prstGeom prst="rect">
            <a:avLst/>
          </a:prstGeom>
          <a:solidFill>
            <a:srgbClr val="FFFFFF"/>
          </a:solidFill>
          <a:ln w="15240">
            <a:solidFill>
              <a:srgbClr val="E0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十字星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59752" y="3447288"/>
            <a:ext cx="0" cy="1143000"/>
          </a:xfrm>
          <a:prstGeom prst="line">
            <a:avLst/>
          </a:prstGeom>
          <a:ln w="25400">
            <a:solidFill>
              <a:srgbClr val="D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931152" y="3767328"/>
            <a:ext cx="457200" cy="320040"/>
          </a:xfrm>
          <a:prstGeom prst="rect">
            <a:avLst/>
          </a:prstGeom>
          <a:solidFill>
            <a:srgbClr val="DA4856"/>
          </a:solidFill>
          <a:ln w="15240">
            <a:solidFill>
              <a:srgbClr val="D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小阳线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48472" y="3355848"/>
            <a:ext cx="0" cy="1280160"/>
          </a:xfrm>
          <a:prstGeom prst="line">
            <a:avLst/>
          </a:prstGeom>
          <a:ln w="25400">
            <a:solidFill>
              <a:srgbClr val="189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119872" y="3721608"/>
            <a:ext cx="457200" cy="365759"/>
          </a:xfrm>
          <a:prstGeom prst="rect">
            <a:avLst/>
          </a:prstGeom>
          <a:solidFill>
            <a:srgbClr val="189C6F"/>
          </a:solidFill>
          <a:ln w="15240">
            <a:solidFill>
              <a:srgbClr val="18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小阴线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37192" y="3200400"/>
            <a:ext cx="0" cy="1828800"/>
          </a:xfrm>
          <a:prstGeom prst="line">
            <a:avLst/>
          </a:prstGeom>
          <a:ln w="25400">
            <a:solidFill>
              <a:srgbClr val="D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308592" y="3200400"/>
            <a:ext cx="457200" cy="1618487"/>
          </a:xfrm>
          <a:prstGeom prst="rect">
            <a:avLst/>
          </a:prstGeom>
          <a:solidFill>
            <a:srgbClr val="DA4856"/>
          </a:solidFill>
          <a:ln w="15240">
            <a:solidFill>
              <a:srgbClr val="D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光头阳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25912" y="2990088"/>
            <a:ext cx="0" cy="1828800"/>
          </a:xfrm>
          <a:prstGeom prst="line">
            <a:avLst/>
          </a:prstGeom>
          <a:ln w="25400">
            <a:solidFill>
              <a:srgbClr val="189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497312" y="3200400"/>
            <a:ext cx="457200" cy="1618487"/>
          </a:xfrm>
          <a:prstGeom prst="rect">
            <a:avLst/>
          </a:prstGeom>
          <a:solidFill>
            <a:srgbClr val="189C6F"/>
          </a:solidFill>
          <a:ln w="15240">
            <a:solidFill>
              <a:srgbClr val="18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5413248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>光脚阴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69280"/>
            <a:ext cx="10241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50" b="0">
                <a:solidFill>
                  <a:srgbClr val="5B6A78"/>
                </a:solidFill>
                <a:latin typeface="Microsoft YaHei"/>
              </a:rPr>
              <a:t>红绿颜色在不同软件里可能设置相反，真正要看的是开盘价、收盘价、最高价、最低价。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同一个K线形态，位置不同，意思可能完全不同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不要背形态名字，要先问：它出现在高位、低位，还是震荡中？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103120"/>
            <a:ext cx="32461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189C6F"/>
                </a:solidFill>
                <a:latin typeface="Microsoft YaHei"/>
              </a:rPr>
              <a:t>低位长下影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2032" y="3794760"/>
            <a:ext cx="0" cy="1325880"/>
          </a:xfrm>
          <a:prstGeom prst="line">
            <a:avLst/>
          </a:prstGeom>
          <a:ln w="25400">
            <a:solidFill>
              <a:srgbClr val="189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13432" y="3931920"/>
            <a:ext cx="457200" cy="548640"/>
          </a:xfrm>
          <a:prstGeom prst="rect">
            <a:avLst/>
          </a:prstGeom>
          <a:solidFill>
            <a:srgbClr val="189C6F"/>
          </a:solidFill>
          <a:ln w="15240">
            <a:solidFill>
              <a:srgbClr val="189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5715000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216152" y="4023360"/>
            <a:ext cx="548640" cy="22860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64792" y="3840480"/>
            <a:ext cx="548640" cy="18288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13432" y="3703320"/>
            <a:ext cx="502920" cy="13716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816352" y="3383280"/>
            <a:ext cx="594360" cy="32004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24712" y="4846320"/>
            <a:ext cx="2606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1F2D3A"/>
                </a:solidFill>
                <a:latin typeface="Microsoft YaHei"/>
              </a:rPr>
              <a:t>可能说明下方有人接，但还要看后续确认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2103120"/>
            <a:ext cx="32461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395728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DA4856"/>
                </a:solidFill>
                <a:latin typeface="Microsoft YaHei"/>
              </a:rPr>
              <a:t>高位长上影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91071" y="3063239"/>
            <a:ext cx="0" cy="1325881"/>
          </a:xfrm>
          <a:prstGeom prst="line">
            <a:avLst/>
          </a:prstGeom>
          <a:ln w="25400">
            <a:solidFill>
              <a:srgbClr val="D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062471" y="3794760"/>
            <a:ext cx="457200" cy="411479"/>
          </a:xfrm>
          <a:prstGeom prst="rect">
            <a:avLst/>
          </a:prstGeom>
          <a:solidFill>
            <a:srgbClr val="DA4856"/>
          </a:solidFill>
          <a:ln w="15240">
            <a:solidFill>
              <a:srgbClr val="D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5715000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965192" y="3246120"/>
            <a:ext cx="548639" cy="27432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13831" y="3063240"/>
            <a:ext cx="548640" cy="18288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62471" y="2926080"/>
            <a:ext cx="502921" cy="13716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65392" y="2926080"/>
            <a:ext cx="594360" cy="32004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73751" y="4846320"/>
            <a:ext cx="2606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1F2D3A"/>
                </a:solidFill>
                <a:latin typeface="Microsoft YaHei"/>
              </a:rPr>
              <a:t>可能说明上方卖压大，追高要小心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2103120"/>
            <a:ext cx="32461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395728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E0A63A"/>
                </a:solidFill>
                <a:latin typeface="Microsoft YaHei"/>
              </a:rPr>
              <a:t>震荡十字星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40112" y="3383279"/>
            <a:ext cx="0" cy="1463041"/>
          </a:xfrm>
          <a:prstGeom prst="line">
            <a:avLst/>
          </a:prstGeom>
          <a:ln w="25400">
            <a:solidFill>
              <a:srgbClr val="E0A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811512" y="4114800"/>
            <a:ext cx="457200" cy="54864"/>
          </a:xfrm>
          <a:prstGeom prst="rect">
            <a:avLst/>
          </a:prstGeom>
          <a:solidFill>
            <a:srgbClr val="FFFFFF"/>
          </a:solidFill>
          <a:ln w="15240">
            <a:solidFill>
              <a:srgbClr val="E0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5715000"/>
            <a:ext cx="9601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1F2D3A"/>
                </a:solidFill>
                <a:latin typeface="Microsoft YaHei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714232" y="3566160"/>
            <a:ext cx="548640" cy="13716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262872" y="3566160"/>
            <a:ext cx="548640" cy="137160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811512" y="3584448"/>
            <a:ext cx="502920" cy="118872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14432" y="3584448"/>
            <a:ext cx="594360" cy="91439"/>
          </a:xfrm>
          <a:prstGeom prst="line">
            <a:avLst/>
          </a:prstGeom>
          <a:ln w="17780">
            <a:solidFill>
              <a:srgbClr val="788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622792" y="4846320"/>
            <a:ext cx="2606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1F2D3A"/>
                </a:solidFill>
                <a:latin typeface="Microsoft YaHei"/>
              </a:rPr>
              <a:t>可能只是犹豫，不一定马上变盘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真实K线不要单独看：还要看趋势、均线、成交量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看K线的顺序：先看位置，再看形态，最后看量。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65379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249424"/>
            <a:ext cx="6053328" cy="35295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51560" y="2331720"/>
            <a:ext cx="960120" cy="292608"/>
          </a:xfrm>
          <a:prstGeom prst="roundRect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2395727"/>
            <a:ext cx="86868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价格区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2761488"/>
            <a:ext cx="960120" cy="292608"/>
          </a:xfrm>
          <a:prstGeom prst="roundRect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2825496"/>
            <a:ext cx="86868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均线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5285232"/>
            <a:ext cx="960120" cy="292608"/>
          </a:xfrm>
          <a:prstGeom prst="roundRect">
            <a:avLst/>
          </a:prstGeom>
          <a:solidFill>
            <a:srgbClr val="3A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5349240"/>
            <a:ext cx="86868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成交量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1993392"/>
            <a:ext cx="388620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260604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趋势：现在大概往哪走？</a:t>
            </a:r>
          </a:p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位置：是在高位、低位还是中间？</a:t>
            </a:r>
          </a:p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量能：这次变化有没有人参与？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5257800"/>
            <a:ext cx="32461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形态不是答案，只是提醒你去问问题。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均线怎么看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均线 = 过去一段时间的平均价格。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短均线：反应快。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长均线：看大方向。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均线是辅助，不是保证。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成交量怎么看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成交量 = 这段时间买卖有多热闹。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00750_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量大：参与的人多。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量小：交易比较冷。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涨跌都要配合成交量看。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为什么会涨跌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买的人更着急，价格容易涨；卖的人更着急，价格容易跌。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消息会影响情绪。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业绩会影响预期。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资金进出会影响价格。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买的人更着急，价格容易涨；卖的人更着急，价格容易跌。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买之前，只问三个问题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不会回答这三个问题，就先别急着买。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为什么买？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因为规则/趋势/价格位置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1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错了怎么办？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跌到哪里我认错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赚了怎么卖？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涨到哪里分批走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93792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新手最大的进步：从“我感觉会涨”，变成“我有计划，也知道错了怎么办”。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仓位和止损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先决定最多亏多少，再决定买多少。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不要一上来满仓。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亏损后不要随意加仓。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跌到计划位置要认错。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先决定最多亏多少，再决定买多少。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复盘：每次交易都留一条记录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复盘不是写作文，是找出自己哪里做错了。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240280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368296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687D2"/>
                </a:solidFill>
                <a:latin typeface="Microsoft YaHei"/>
              </a:rPr>
              <a:t>买入理由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68296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我为什么买？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026664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9C6F"/>
                </a:solidFill>
                <a:latin typeface="Microsoft YaHei"/>
              </a:rPr>
              <a:t>卖出理由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我为什么卖？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813048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941063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A63A"/>
                </a:solidFill>
                <a:latin typeface="Microsoft YaHei"/>
              </a:rPr>
              <a:t>赚亏结果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941063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赚/亏多少钱？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599432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727448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4856"/>
                </a:solidFill>
                <a:latin typeface="Microsoft YaHei"/>
              </a:rPr>
              <a:t>错误记录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727448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是追高、乱加仓，还是没止损？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最后只记住这几句话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先会听懂，再去学习更复杂的技术。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03120"/>
            <a:ext cx="101041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2578608"/>
            <a:ext cx="9144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买入 = 花钱换股票；卖出 = 把股票换回钱。</a:t>
            </a:r>
          </a:p>
          <a:p>
            <a:pPr marL="180000" indent="-105000">
              <a:spcAft>
                <a:spcPts val="9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港股/美股当天买了可以当天卖，交收是另一件事。</a:t>
            </a:r>
          </a:p>
          <a:p>
            <a:pPr marL="180000" indent="-105000">
              <a:spcAft>
                <a:spcPts val="9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K线看价格过程，均线看趋势，成交量看热闹程度。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52303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DA4856"/>
                </a:solidFill>
                <a:latin typeface="Microsoft YaHei"/>
              </a:rPr>
              <a:t>任何股票案例都不是推荐买入。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