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4389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BED1E0"/>
                </a:solidFill>
                <a:latin typeface="Microsoft YaHei"/>
              </a:rPr>
              <a:t>炒股入门 · 基础知识笔记版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7863840" cy="8412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Microsoft YaHei"/>
              </a:rPr>
              <a:t>炒股基础知识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286000"/>
            <a:ext cx="758952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DAE7F0"/>
                </a:solidFill>
                <a:latin typeface="Microsoft YaHei"/>
              </a:rPr>
              <a:t>少文字，多图表；先懂规则，再看行情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60" y="932688"/>
            <a:ext cx="434340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1042416"/>
            <a:ext cx="5943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1">
                <a:solidFill>
                  <a:srgbClr val="606E7C"/>
                </a:solidFill>
                <a:latin typeface="Microsoft YaHei"/>
              </a:rPr>
              <a:t>A股</a:t>
            </a:r>
          </a:p>
        </p:txBody>
      </p:sp>
      <p:pic>
        <p:nvPicPr>
          <p:cNvPr id="9" name="Picture 8" descr="600519_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528" y="1060704"/>
            <a:ext cx="3429000" cy="9875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995160" y="2532888"/>
            <a:ext cx="434340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2642616"/>
            <a:ext cx="5943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1">
                <a:solidFill>
                  <a:srgbClr val="606E7C"/>
                </a:solidFill>
                <a:latin typeface="Microsoft YaHei"/>
              </a:rPr>
              <a:t>港股</a:t>
            </a:r>
          </a:p>
        </p:txBody>
      </p:sp>
      <p:pic>
        <p:nvPicPr>
          <p:cNvPr id="12" name="Picture 11" descr="00700_H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528" y="2660904"/>
            <a:ext cx="3429000" cy="98755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995160" y="4133087"/>
            <a:ext cx="434340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4242816"/>
            <a:ext cx="5943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1">
                <a:solidFill>
                  <a:srgbClr val="606E7C"/>
                </a:solidFill>
                <a:latin typeface="Microsoft YaHei"/>
              </a:rPr>
              <a:t>美股</a:t>
            </a:r>
          </a:p>
        </p:txBody>
      </p:sp>
      <p:pic>
        <p:nvPicPr>
          <p:cNvPr id="15" name="Picture 14" descr="AAP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528" y="4261103"/>
            <a:ext cx="3429000" cy="9875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4944" y="5742432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CDDBE6"/>
                </a:solidFill>
                <a:latin typeface="Microsoft YaHei"/>
              </a:rPr>
              <a:t>适合：零基础、刚开户、想建立交易常识的新手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真实股票与行情图仅作教学样本，不构成投资建议。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4124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这份PPT怎么用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基础知识 · 简洁版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真实股票与行情图仅作教学样本，不构成投资建议。行情图来自公开历史数据，生成于 2026-06-13。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70432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 w="8890">
            <a:solidFill>
              <a:srgbClr val="C5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353312"/>
            <a:ext cx="10149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22F3C"/>
                </a:solidFill>
                <a:latin typeface="Microsoft YaHei"/>
              </a:rPr>
              <a:t>每页只记一个核心点，讲课时用真实图补充。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148840"/>
            <a:ext cx="6537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78608"/>
            <a:ext cx="5897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2100">
                <a:solidFill>
                  <a:srgbClr val="222F3C"/>
                </a:solidFill>
                <a:latin typeface="Microsoft YaHei"/>
              </a:defRPr>
            </a:pPr>
            <a:r>
              <a:t>先讲规则，再讲图表。</a:t>
            </a:r>
          </a:p>
          <a:p>
            <a:pPr marL="180000" indent="-105000">
              <a:spcAft>
                <a:spcPts val="900"/>
              </a:spcAft>
              <a:defRPr sz="2100">
                <a:solidFill>
                  <a:srgbClr val="222F3C"/>
                </a:solidFill>
                <a:latin typeface="Microsoft YaHei"/>
              </a:defRPr>
            </a:pPr>
            <a:r>
              <a:t>每页不背概念，只问关键问题。</a:t>
            </a:r>
          </a:p>
          <a:p>
            <a:pPr marL="180000" indent="-105000">
              <a:spcAft>
                <a:spcPts val="900"/>
              </a:spcAft>
              <a:defRPr sz="2100">
                <a:solidFill>
                  <a:srgbClr val="222F3C"/>
                </a:solidFill>
                <a:latin typeface="Microsoft YaHei"/>
              </a:defRPr>
            </a:pPr>
            <a:r>
              <a:t>真实股票只当样本，不当推荐。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2148840"/>
            <a:ext cx="3749039" cy="3566160"/>
          </a:xfrm>
          <a:prstGeom prst="roundRect">
            <a:avLst>
              <a:gd name="adj" fmla="val 6000"/>
            </a:avLst>
          </a:prstGeom>
          <a:solidFill>
            <a:srgbClr val="ECF4FA"/>
          </a:solidFill>
          <a:ln w="889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91856" y="2514600"/>
            <a:ext cx="315468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22F3C"/>
                </a:solidFill>
                <a:latin typeface="Microsoft YaHei"/>
              </a:rPr>
              <a:t>课堂笔记</a:t>
            </a:r>
          </a:p>
        </p:txBody>
      </p:sp>
      <p:sp>
        <p:nvSpPr>
          <p:cNvPr id="14" name="Oval 13"/>
          <p:cNvSpPr/>
          <p:nvPr/>
        </p:nvSpPr>
        <p:spPr>
          <a:xfrm>
            <a:off x="9006840" y="3127248"/>
            <a:ext cx="1143000" cy="1143000"/>
          </a:xfrm>
          <a:prstGeom prst="ellipse">
            <a:avLst/>
          </a:prstGeom>
          <a:solidFill>
            <a:srgbClr val="3A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3447288"/>
            <a:ext cx="10058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记住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4124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股票是什么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基础知识 · 简洁版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真实股票与行情图仅作教学样本，不构成投资建议。行情图来自公开历史数据，生成于 2026-06-13。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70432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 w="8890">
            <a:solidFill>
              <a:srgbClr val="C5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353312"/>
            <a:ext cx="10149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22F3C"/>
                </a:solidFill>
                <a:latin typeface="Microsoft YaHei"/>
              </a:rPr>
              <a:t>股票是公司所有权的一小部分，价格由市场交易形成。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148840"/>
            <a:ext cx="6537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78608"/>
            <a:ext cx="5897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2100">
                <a:solidFill>
                  <a:srgbClr val="222F3C"/>
                </a:solidFill>
                <a:latin typeface="Microsoft YaHei"/>
              </a:defRPr>
            </a:pPr>
            <a:r>
              <a:t>买股票，本质是在承担不确定性。</a:t>
            </a:r>
          </a:p>
          <a:p>
            <a:pPr marL="180000" indent="-105000">
              <a:spcAft>
                <a:spcPts val="900"/>
              </a:spcAft>
              <a:defRPr sz="2100">
                <a:solidFill>
                  <a:srgbClr val="222F3C"/>
                </a:solidFill>
                <a:latin typeface="Microsoft YaHei"/>
              </a:defRPr>
            </a:pPr>
            <a:r>
              <a:t>好公司不等于好买点。</a:t>
            </a:r>
          </a:p>
          <a:p>
            <a:pPr marL="180000" indent="-105000">
              <a:spcAft>
                <a:spcPts val="900"/>
              </a:spcAft>
              <a:defRPr sz="2100">
                <a:solidFill>
                  <a:srgbClr val="222F3C"/>
                </a:solidFill>
                <a:latin typeface="Microsoft YaHei"/>
              </a:defRPr>
            </a:pPr>
            <a:r>
              <a:t>价格短期受情绪和资金影响很大。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2148840"/>
            <a:ext cx="3749039" cy="3566160"/>
          </a:xfrm>
          <a:prstGeom prst="roundRect">
            <a:avLst>
              <a:gd name="adj" fmla="val 6000"/>
            </a:avLst>
          </a:prstGeom>
          <a:solidFill>
            <a:srgbClr val="ECF4FA"/>
          </a:solidFill>
          <a:ln w="889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91856" y="2514600"/>
            <a:ext cx="315468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22F3C"/>
                </a:solidFill>
                <a:latin typeface="Microsoft YaHei"/>
              </a:rPr>
              <a:t>课堂笔记</a:t>
            </a:r>
          </a:p>
        </p:txBody>
      </p:sp>
      <p:sp>
        <p:nvSpPr>
          <p:cNvPr id="14" name="Oval 13"/>
          <p:cNvSpPr/>
          <p:nvPr/>
        </p:nvSpPr>
        <p:spPr>
          <a:xfrm>
            <a:off x="9006840" y="3127248"/>
            <a:ext cx="1143000" cy="1143000"/>
          </a:xfrm>
          <a:prstGeom prst="ellipse">
            <a:avLst/>
          </a:prstGeom>
          <a:solidFill>
            <a:srgbClr val="488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3447288"/>
            <a:ext cx="10058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记住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4124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一次交易怎么发生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基础知识 · 简洁版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真实股票与行情图仅作教学样本，不构成投资建议。行情图来自公开历史数据，生成于 2026-06-13。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70432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 w="8890">
            <a:solidFill>
              <a:srgbClr val="C5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353312"/>
            <a:ext cx="10149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22F3C"/>
                </a:solidFill>
                <a:latin typeface="Microsoft YaHei"/>
              </a:rPr>
              <a:t>交易不是点一下买入就结束，而是委托、成交、清算、交收。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148840"/>
            <a:ext cx="6537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78608"/>
            <a:ext cx="5897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2100">
                <a:solidFill>
                  <a:srgbClr val="222F3C"/>
                </a:solidFill>
                <a:latin typeface="Microsoft YaHei"/>
              </a:defRPr>
            </a:pPr>
            <a:r>
              <a:t>委托：你提交买卖条件。</a:t>
            </a:r>
          </a:p>
          <a:p>
            <a:pPr marL="180000" indent="-105000">
              <a:spcAft>
                <a:spcPts val="900"/>
              </a:spcAft>
              <a:defRPr sz="2100">
                <a:solidFill>
                  <a:srgbClr val="222F3C"/>
                </a:solidFill>
                <a:latin typeface="Microsoft YaHei"/>
              </a:defRPr>
            </a:pPr>
            <a:r>
              <a:t>成交：系统撮合买卖双方。</a:t>
            </a:r>
          </a:p>
          <a:p>
            <a:pPr marL="180000" indent="-105000">
              <a:spcAft>
                <a:spcPts val="900"/>
              </a:spcAft>
              <a:defRPr sz="2100">
                <a:solidFill>
                  <a:srgbClr val="222F3C"/>
                </a:solidFill>
                <a:latin typeface="Microsoft YaHei"/>
              </a:defRPr>
            </a:pPr>
            <a:r>
              <a:t>交收：资金和股票最终划转。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2148840"/>
            <a:ext cx="3749039" cy="3566160"/>
          </a:xfrm>
          <a:prstGeom prst="roundRect">
            <a:avLst>
              <a:gd name="adj" fmla="val 6000"/>
            </a:avLst>
          </a:prstGeom>
          <a:solidFill>
            <a:srgbClr val="ECF4FA"/>
          </a:solidFill>
          <a:ln w="889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91856" y="2514600"/>
            <a:ext cx="315468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22F3C"/>
                </a:solidFill>
                <a:latin typeface="Microsoft YaHei"/>
              </a:rPr>
              <a:t>课堂笔记</a:t>
            </a:r>
          </a:p>
        </p:txBody>
      </p:sp>
      <p:sp>
        <p:nvSpPr>
          <p:cNvPr id="14" name="Oval 13"/>
          <p:cNvSpPr/>
          <p:nvPr/>
        </p:nvSpPr>
        <p:spPr>
          <a:xfrm>
            <a:off x="9006840" y="3127248"/>
            <a:ext cx="1143000" cy="1143000"/>
          </a:xfrm>
          <a:prstGeom prst="ellipse">
            <a:avLst/>
          </a:prstGeom>
          <a:solidFill>
            <a:srgbClr val="E0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3447288"/>
            <a:ext cx="10058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记住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4124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A股、港股、美股：先看规则差异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基础知识 · 简洁版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真实股票与行情图仅作教学样本，不构成投资建议。行情图来自公开历史数据，生成于 2026-06-13。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70432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 w="8890">
            <a:solidFill>
              <a:srgbClr val="C5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353312"/>
            <a:ext cx="10149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22F3C"/>
                </a:solidFill>
                <a:latin typeface="Microsoft YaHei"/>
              </a:rPr>
              <a:t>同样是买股票，市场规则不一样，交易体验就不一样。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9808" y="2148840"/>
          <a:ext cx="1069848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651760"/>
                <a:gridCol w="3474720"/>
                <a:gridCol w="3474720"/>
              </a:tblGrid>
              <a:tr h="90297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市场</a:t>
                      </a:r>
                    </a:p>
                  </a:txBody>
                  <a:tcPr>
                    <a:solidFill>
                      <a:srgbClr val="1C2D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代表案例</a:t>
                      </a:r>
                    </a:p>
                  </a:txBody>
                  <a:tcPr>
                    <a:solidFill>
                      <a:srgbClr val="1C2D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核心规则</a:t>
                      </a:r>
                    </a:p>
                  </a:txBody>
                  <a:tcPr>
                    <a:solidFill>
                      <a:srgbClr val="1C2D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新手提醒</a:t>
                      </a:r>
                    </a:p>
                  </a:txBody>
                  <a:tcPr>
                    <a:solidFill>
                      <a:srgbClr val="1C2D3E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A股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贵州茅台 / 宁德时代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常见 T+1；板块涨跌幅不同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先看代码属于哪个板块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港股</a:t>
                      </a:r>
                    </a:p>
                  </a:txBody>
                  <a:tcPr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腾讯控股 / 汇丰控股</a:t>
                      </a:r>
                    </a:p>
                  </a:txBody>
                  <a:tcPr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通常 T+2；一手股数不统一</a:t>
                      </a:r>
                    </a:p>
                  </a:txBody>
                  <a:tcPr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注意港币、价差、流动性</a:t>
                      </a:r>
                    </a:p>
                  </a:txBody>
                  <a:tcPr>
                    <a:solidFill>
                      <a:srgbClr val="EFF6FA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美股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Apple / NVIDIA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多数证券 T+1；通常 1 股起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盘前盘后别乱用市价单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4124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交易单位与T日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基础知识 · 简洁版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真实股票与行情图仅作教学样本，不构成投资建议。行情图来自公开历史数据，生成于 2026-06-13。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70432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 w="8890">
            <a:solidFill>
              <a:srgbClr val="C5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353312"/>
            <a:ext cx="10149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22F3C"/>
                </a:solidFill>
                <a:latin typeface="Microsoft YaHei"/>
              </a:rPr>
              <a:t>T 是交易日，不是自然日；不同市场交收节奏不同。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148840"/>
            <a:ext cx="6537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78608"/>
            <a:ext cx="5897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2100">
                <a:solidFill>
                  <a:srgbClr val="222F3C"/>
                </a:solidFill>
                <a:latin typeface="Microsoft YaHei"/>
              </a:defRPr>
            </a:pPr>
            <a:r>
              <a:t>A股常见 100 股一手。</a:t>
            </a:r>
          </a:p>
          <a:p>
            <a:pPr marL="180000" indent="-105000">
              <a:spcAft>
                <a:spcPts val="900"/>
              </a:spcAft>
              <a:defRPr sz="2100">
                <a:solidFill>
                  <a:srgbClr val="222F3C"/>
                </a:solidFill>
                <a:latin typeface="Microsoft YaHei"/>
              </a:defRPr>
            </a:pPr>
            <a:r>
              <a:t>港股一手股数不统一。</a:t>
            </a:r>
          </a:p>
          <a:p>
            <a:pPr marL="180000" indent="-105000">
              <a:spcAft>
                <a:spcPts val="900"/>
              </a:spcAft>
              <a:defRPr sz="2100">
                <a:solidFill>
                  <a:srgbClr val="222F3C"/>
                </a:solidFill>
                <a:latin typeface="Microsoft YaHei"/>
              </a:defRPr>
            </a:pPr>
            <a:r>
              <a:t>美股通常 1 股起。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2148840"/>
            <a:ext cx="3749039" cy="3566160"/>
          </a:xfrm>
          <a:prstGeom prst="roundRect">
            <a:avLst>
              <a:gd name="adj" fmla="val 6000"/>
            </a:avLst>
          </a:prstGeom>
          <a:solidFill>
            <a:srgbClr val="ECF4FA"/>
          </a:solidFill>
          <a:ln w="889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91856" y="2514600"/>
            <a:ext cx="315468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22F3C"/>
                </a:solidFill>
                <a:latin typeface="Microsoft YaHei"/>
              </a:rPr>
              <a:t>课堂笔记</a:t>
            </a:r>
          </a:p>
        </p:txBody>
      </p:sp>
      <p:sp>
        <p:nvSpPr>
          <p:cNvPr id="14" name="Oval 13"/>
          <p:cNvSpPr/>
          <p:nvPr/>
        </p:nvSpPr>
        <p:spPr>
          <a:xfrm>
            <a:off x="9006840" y="3127248"/>
            <a:ext cx="1143000" cy="1143000"/>
          </a:xfrm>
          <a:prstGeom prst="ellipse">
            <a:avLst/>
          </a:prstGeom>
          <a:solidFill>
            <a:srgbClr val="18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3447288"/>
            <a:ext cx="10058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记住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4124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费用会吃掉收益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基础知识 · 简洁版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真实股票与行情图仅作教学样本，不构成投资建议。行情图来自公开历史数据，生成于 2026-06-13。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70432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 w="8890">
            <a:solidFill>
              <a:srgbClr val="C5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353312"/>
            <a:ext cx="10149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22F3C"/>
                </a:solidFill>
                <a:latin typeface="Microsoft YaHei"/>
              </a:rPr>
              <a:t>短线越频繁，费用影响越明显。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148840"/>
            <a:ext cx="6537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78608"/>
            <a:ext cx="5897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2100">
                <a:solidFill>
                  <a:srgbClr val="222F3C"/>
                </a:solidFill>
                <a:latin typeface="Microsoft YaHei"/>
              </a:defRPr>
            </a:pPr>
            <a:r>
              <a:t>看收益要看扣费后的净收益。</a:t>
            </a:r>
          </a:p>
          <a:p>
            <a:pPr marL="180000" indent="-105000">
              <a:spcAft>
                <a:spcPts val="900"/>
              </a:spcAft>
              <a:defRPr sz="2100">
                <a:solidFill>
                  <a:srgbClr val="222F3C"/>
                </a:solidFill>
                <a:latin typeface="Microsoft YaHei"/>
              </a:defRPr>
            </a:pPr>
            <a:r>
              <a:t>跨市场还要考虑汇率。</a:t>
            </a:r>
          </a:p>
          <a:p>
            <a:pPr marL="180000" indent="-105000">
              <a:spcAft>
                <a:spcPts val="900"/>
              </a:spcAft>
              <a:defRPr sz="2100">
                <a:solidFill>
                  <a:srgbClr val="222F3C"/>
                </a:solidFill>
                <a:latin typeface="Microsoft YaHei"/>
              </a:defRPr>
            </a:pPr>
            <a:r>
              <a:t>小资金更要控制交易频率。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2148840"/>
            <a:ext cx="3749039" cy="3566160"/>
          </a:xfrm>
          <a:prstGeom prst="roundRect">
            <a:avLst>
              <a:gd name="adj" fmla="val 6000"/>
            </a:avLst>
          </a:prstGeom>
          <a:solidFill>
            <a:srgbClr val="ECF4FA"/>
          </a:solidFill>
          <a:ln w="889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91856" y="2514600"/>
            <a:ext cx="315468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22F3C"/>
                </a:solidFill>
                <a:latin typeface="Microsoft YaHei"/>
              </a:rPr>
              <a:t>课堂笔记</a:t>
            </a:r>
          </a:p>
        </p:txBody>
      </p:sp>
      <p:sp>
        <p:nvSpPr>
          <p:cNvPr id="14" name="Oval 13"/>
          <p:cNvSpPr/>
          <p:nvPr/>
        </p:nvSpPr>
        <p:spPr>
          <a:xfrm>
            <a:off x="9006840" y="3127248"/>
            <a:ext cx="1143000" cy="1143000"/>
          </a:xfrm>
          <a:prstGeom prst="ellipse">
            <a:avLst/>
          </a:prstGeom>
          <a:solidFill>
            <a:srgbClr val="DA4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3447288"/>
            <a:ext cx="10058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记住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4124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真实行情：先学会读一张图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基础知识 · 简洁版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真实股票与行情图仅作教学样本，不构成投资建议。行情图来自公开历史数据，生成于 2026-06-13。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70432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 w="8890">
            <a:solidFill>
              <a:srgbClr val="C5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353312"/>
            <a:ext cx="10149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22F3C"/>
                </a:solidFill>
                <a:latin typeface="Microsoft YaHei"/>
              </a:rPr>
              <a:t>看行情图，先找趋势、波动、成交量。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644652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600519_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304288"/>
            <a:ext cx="5897880" cy="35204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88352" y="2057400"/>
            <a:ext cx="4069080" cy="4160520"/>
          </a:xfrm>
          <a:prstGeom prst="roundRect">
            <a:avLst>
              <a:gd name="adj" fmla="val 6000"/>
            </a:avLst>
          </a:prstGeom>
          <a:solidFill>
            <a:srgbClr val="ECF4FA"/>
          </a:solidFill>
          <a:ln w="889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542032"/>
            <a:ext cx="33375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上半部分：价格和K线。</a:t>
            </a:r>
          </a:p>
          <a:p>
            <a:pPr marL="180000" indent="-105000">
              <a:spcAft>
                <a:spcPts val="9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彩色线：不同周期均线。</a:t>
            </a:r>
          </a:p>
          <a:p>
            <a:pPr marL="180000" indent="-105000">
              <a:spcAft>
                <a:spcPts val="9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下半部分：成交量。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4124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K线：一页讲清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基础知识 · 简洁版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真实股票与行情图仅作教学样本，不构成投资建议。行情图来自公开历史数据，生成于 2026-06-13。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70432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 w="8890">
            <a:solidFill>
              <a:srgbClr val="C5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353312"/>
            <a:ext cx="10149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22F3C"/>
                </a:solidFill>
                <a:latin typeface="Microsoft YaHei"/>
              </a:rPr>
              <a:t>K线只回答：这段时间价格怎么走过。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644652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0700_H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304288"/>
            <a:ext cx="5897880" cy="35204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88352" y="2057400"/>
            <a:ext cx="4069080" cy="4160520"/>
          </a:xfrm>
          <a:prstGeom prst="roundRect">
            <a:avLst>
              <a:gd name="adj" fmla="val 6000"/>
            </a:avLst>
          </a:prstGeom>
          <a:solidFill>
            <a:srgbClr val="ECF4FA"/>
          </a:solidFill>
          <a:ln w="889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542032"/>
            <a:ext cx="33375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实体：开盘价到收盘价。</a:t>
            </a:r>
          </a:p>
          <a:p>
            <a:pPr marL="180000" indent="-105000">
              <a:spcAft>
                <a:spcPts val="9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影线：最高价和最低价。</a:t>
            </a:r>
          </a:p>
          <a:p>
            <a:pPr marL="180000" indent="-105000">
              <a:spcAft>
                <a:spcPts val="9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形态必须放在位置里看。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4124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均线：看趋势，不是看魔法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基础知识 · 简洁版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真实股票与行情图仅作教学样本，不构成投资建议。行情图来自公开历史数据，生成于 2026-06-13。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70432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 w="8890">
            <a:solidFill>
              <a:srgbClr val="C5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353312"/>
            <a:ext cx="10149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22F3C"/>
                </a:solidFill>
                <a:latin typeface="Microsoft YaHei"/>
              </a:rPr>
              <a:t>均线是平均成本，信号天然滞后。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644652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V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304288"/>
            <a:ext cx="5897880" cy="35204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88352" y="2057400"/>
            <a:ext cx="4069080" cy="4160520"/>
          </a:xfrm>
          <a:prstGeom prst="roundRect">
            <a:avLst>
              <a:gd name="adj" fmla="val 6000"/>
            </a:avLst>
          </a:prstGeom>
          <a:solidFill>
            <a:srgbClr val="ECF4FA"/>
          </a:solidFill>
          <a:ln w="889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542032"/>
            <a:ext cx="33375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MA5：短期节奏。</a:t>
            </a:r>
          </a:p>
          <a:p>
            <a:pPr marL="180000" indent="-105000">
              <a:spcAft>
                <a:spcPts val="9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MA20：中短趋势。</a:t>
            </a:r>
          </a:p>
          <a:p>
            <a:pPr marL="180000" indent="-105000">
              <a:spcAft>
                <a:spcPts val="9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MA60：阶段方向。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4124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成交量：看有没有人参与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基础知识 · 简洁版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真实股票与行情图仅作教学样本，不构成投资建议。行情图来自公开历史数据，生成于 2026-06-13。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70432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 w="8890">
            <a:solidFill>
              <a:srgbClr val="C5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353312"/>
            <a:ext cx="10149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22F3C"/>
                </a:solidFill>
                <a:latin typeface="Microsoft YaHei"/>
              </a:rPr>
              <a:t>放量代表参与度提高，不代表一定上涨。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644652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300750_S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304288"/>
            <a:ext cx="5897880" cy="35204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88352" y="2057400"/>
            <a:ext cx="4069080" cy="4160520"/>
          </a:xfrm>
          <a:prstGeom prst="roundRect">
            <a:avLst>
              <a:gd name="adj" fmla="val 6000"/>
            </a:avLst>
          </a:prstGeom>
          <a:solidFill>
            <a:srgbClr val="ECF4FA"/>
          </a:solidFill>
          <a:ln w="889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542032"/>
            <a:ext cx="33375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突破时看量能是否配合。</a:t>
            </a:r>
          </a:p>
          <a:p>
            <a:pPr marL="180000" indent="-105000">
              <a:spcAft>
                <a:spcPts val="9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高位放量也可能是风险。</a:t>
            </a:r>
          </a:p>
          <a:p>
            <a:pPr marL="180000" indent="-105000">
              <a:spcAft>
                <a:spcPts val="900"/>
              </a:spcAft>
              <a:defRPr sz="1800">
                <a:solidFill>
                  <a:srgbClr val="222F3C"/>
                </a:solidFill>
                <a:latin typeface="Microsoft YaHei"/>
              </a:defRPr>
            </a:pPr>
            <a:r>
              <a:t>量价要结合位置判断。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4124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常用指标怎么定位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基础知识 · 简洁版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真实股票与行情图仅作教学样本，不构成投资建议。行情图来自公开历史数据，生成于 2026-06-13。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70432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 w="8890">
            <a:solidFill>
              <a:srgbClr val="C5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353312"/>
            <a:ext cx="10149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22F3C"/>
                </a:solidFill>
                <a:latin typeface="Microsoft YaHei"/>
              </a:rPr>
              <a:t>指标是辅助观察，不是买卖命令。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148840"/>
            <a:ext cx="6537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78608"/>
            <a:ext cx="5897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2100">
                <a:solidFill>
                  <a:srgbClr val="222F3C"/>
                </a:solidFill>
                <a:latin typeface="Microsoft YaHei"/>
              </a:defRPr>
            </a:pPr>
            <a:r>
              <a:t>MACD：看趋势动能。</a:t>
            </a:r>
          </a:p>
          <a:p>
            <a:pPr marL="180000" indent="-105000">
              <a:spcAft>
                <a:spcPts val="900"/>
              </a:spcAft>
              <a:defRPr sz="2100">
                <a:solidFill>
                  <a:srgbClr val="222F3C"/>
                </a:solidFill>
                <a:latin typeface="Microsoft YaHei"/>
              </a:defRPr>
            </a:pPr>
            <a:r>
              <a:t>RSI/KDJ：看短期强弱。</a:t>
            </a:r>
          </a:p>
          <a:p>
            <a:pPr marL="180000" indent="-105000">
              <a:spcAft>
                <a:spcPts val="900"/>
              </a:spcAft>
              <a:defRPr sz="2100">
                <a:solidFill>
                  <a:srgbClr val="222F3C"/>
                </a:solidFill>
                <a:latin typeface="Microsoft YaHei"/>
              </a:defRPr>
            </a:pPr>
            <a:r>
              <a:t>布林线：看波动区间。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2148840"/>
            <a:ext cx="3749039" cy="3566160"/>
          </a:xfrm>
          <a:prstGeom prst="roundRect">
            <a:avLst>
              <a:gd name="adj" fmla="val 6000"/>
            </a:avLst>
          </a:prstGeom>
          <a:solidFill>
            <a:srgbClr val="ECF4FA"/>
          </a:solidFill>
          <a:ln w="889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91856" y="2514600"/>
            <a:ext cx="315468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22F3C"/>
                </a:solidFill>
                <a:latin typeface="Microsoft YaHei"/>
              </a:rPr>
              <a:t>课堂笔记</a:t>
            </a:r>
          </a:p>
        </p:txBody>
      </p:sp>
      <p:sp>
        <p:nvSpPr>
          <p:cNvPr id="14" name="Oval 13"/>
          <p:cNvSpPr/>
          <p:nvPr/>
        </p:nvSpPr>
        <p:spPr>
          <a:xfrm>
            <a:off x="9006840" y="3127248"/>
            <a:ext cx="1143000" cy="1143000"/>
          </a:xfrm>
          <a:prstGeom prst="ellipse">
            <a:avLst/>
          </a:prstGeom>
          <a:solidFill>
            <a:srgbClr val="3A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3447288"/>
            <a:ext cx="10058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记住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4124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买入前：只问三个问题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基础知识 · 简洁版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真实股票与行情图仅作教学样本，不构成投资建议。行情图来自公开历史数据，生成于 2026-06-13。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70432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 w="8890">
            <a:solidFill>
              <a:srgbClr val="C5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353312"/>
            <a:ext cx="10149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22F3C"/>
                </a:solidFill>
                <a:latin typeface="Microsoft YaHei"/>
              </a:rPr>
              <a:t>下单前能回答，亏钱时才不会完全靠情绪。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514600"/>
            <a:ext cx="3063240" cy="1325880"/>
          </a:xfrm>
          <a:prstGeom prst="roundRect">
            <a:avLst>
              <a:gd name="adj" fmla="val 8000"/>
            </a:avLst>
          </a:prstGeom>
          <a:solidFill>
            <a:srgbClr val="488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788920"/>
            <a:ext cx="26517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为什么买？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46120"/>
            <a:ext cx="26517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50" b="0">
                <a:solidFill>
                  <a:srgbClr val="FFFFFF"/>
                </a:solidFill>
                <a:latin typeface="Microsoft YaHei"/>
              </a:rPr>
              <a:t>规则 / 趋势 / 位置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514600"/>
            <a:ext cx="3063240" cy="1325880"/>
          </a:xfrm>
          <a:prstGeom prst="roundRect">
            <a:avLst>
              <a:gd name="adj" fmla="val 8000"/>
            </a:avLst>
          </a:prstGeom>
          <a:solidFill>
            <a:srgbClr val="DA4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788920"/>
            <a:ext cx="26517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错了怎么办？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246120"/>
            <a:ext cx="26517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50" b="0">
                <a:solidFill>
                  <a:srgbClr val="FFFFFF"/>
                </a:solidFill>
                <a:latin typeface="Microsoft YaHei"/>
              </a:rPr>
              <a:t>止损位 / 最大亏损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2514600"/>
            <a:ext cx="3063240" cy="1325880"/>
          </a:xfrm>
          <a:prstGeom prst="roundRect">
            <a:avLst>
              <a:gd name="adj" fmla="val 8000"/>
            </a:avLst>
          </a:prstGeom>
          <a:solidFill>
            <a:srgbClr val="18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788920"/>
            <a:ext cx="26517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赚了怎么卖？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246120"/>
            <a:ext cx="26517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50" b="0">
                <a:solidFill>
                  <a:srgbClr val="FFFFFF"/>
                </a:solidFill>
                <a:latin typeface="Microsoft YaHei"/>
              </a:rPr>
              <a:t>止盈 / 分批 / 条件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983480"/>
            <a:ext cx="9692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新手最该练的不是预测，而是把每次交易变成可复盘的动作。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4124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仓位管理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基础知识 · 简洁版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真实股票与行情图仅作教学样本，不构成投资建议。行情图来自公开历史数据，生成于 2026-06-13。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70432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 w="8890">
            <a:solidFill>
              <a:srgbClr val="C5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353312"/>
            <a:ext cx="10149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22F3C"/>
                </a:solidFill>
                <a:latin typeface="Microsoft YaHei"/>
              </a:rPr>
              <a:t>先决定最多亏多少，再决定买多少。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148840"/>
            <a:ext cx="6537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78608"/>
            <a:ext cx="5897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2100">
                <a:solidFill>
                  <a:srgbClr val="222F3C"/>
                </a:solidFill>
                <a:latin typeface="Microsoft YaHei"/>
              </a:defRPr>
            </a:pPr>
            <a:r>
              <a:t>不要一上来满仓。</a:t>
            </a:r>
          </a:p>
          <a:p>
            <a:pPr marL="180000" indent="-105000">
              <a:spcAft>
                <a:spcPts val="900"/>
              </a:spcAft>
              <a:defRPr sz="2100">
                <a:solidFill>
                  <a:srgbClr val="222F3C"/>
                </a:solidFill>
                <a:latin typeface="Microsoft YaHei"/>
              </a:defRPr>
            </a:pPr>
            <a:r>
              <a:t>亏损后不要随意加仓。</a:t>
            </a:r>
          </a:p>
          <a:p>
            <a:pPr marL="180000" indent="-105000">
              <a:spcAft>
                <a:spcPts val="900"/>
              </a:spcAft>
              <a:defRPr sz="2100">
                <a:solidFill>
                  <a:srgbClr val="222F3C"/>
                </a:solidFill>
                <a:latin typeface="Microsoft YaHei"/>
              </a:defRPr>
            </a:pPr>
            <a:r>
              <a:t>现金也是仓位。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2148840"/>
            <a:ext cx="3749039" cy="3566160"/>
          </a:xfrm>
          <a:prstGeom prst="roundRect">
            <a:avLst>
              <a:gd name="adj" fmla="val 6000"/>
            </a:avLst>
          </a:prstGeom>
          <a:solidFill>
            <a:srgbClr val="ECF4FA"/>
          </a:solidFill>
          <a:ln w="889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91856" y="2514600"/>
            <a:ext cx="315468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22F3C"/>
                </a:solidFill>
                <a:latin typeface="Microsoft YaHei"/>
              </a:rPr>
              <a:t>课堂笔记</a:t>
            </a:r>
          </a:p>
        </p:txBody>
      </p:sp>
      <p:sp>
        <p:nvSpPr>
          <p:cNvPr id="14" name="Oval 13"/>
          <p:cNvSpPr/>
          <p:nvPr/>
        </p:nvSpPr>
        <p:spPr>
          <a:xfrm>
            <a:off x="9006840" y="3127248"/>
            <a:ext cx="1143000" cy="1143000"/>
          </a:xfrm>
          <a:prstGeom prst="ellipse">
            <a:avLst/>
          </a:prstGeom>
          <a:solidFill>
            <a:srgbClr val="E0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3447288"/>
            <a:ext cx="10058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记住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4124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止损止盈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基础知识 · 简洁版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真实股票与行情图仅作教学样本，不构成投资建议。行情图来自公开历史数据，生成于 2026-06-13。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70432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 w="8890">
            <a:solidFill>
              <a:srgbClr val="C5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353312"/>
            <a:ext cx="10149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22F3C"/>
                </a:solidFill>
                <a:latin typeface="Microsoft YaHei"/>
              </a:rPr>
              <a:t>退出规则要在买入前写好。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148840"/>
            <a:ext cx="6537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78608"/>
            <a:ext cx="5897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2100">
                <a:solidFill>
                  <a:srgbClr val="222F3C"/>
                </a:solidFill>
                <a:latin typeface="Microsoft YaHei"/>
              </a:defRPr>
            </a:pPr>
            <a:r>
              <a:t>止损：价格、技术位、资金比例。</a:t>
            </a:r>
          </a:p>
          <a:p>
            <a:pPr marL="180000" indent="-105000">
              <a:spcAft>
                <a:spcPts val="900"/>
              </a:spcAft>
              <a:defRPr sz="2100">
                <a:solidFill>
                  <a:srgbClr val="222F3C"/>
                </a:solidFill>
                <a:latin typeface="Microsoft YaHei"/>
              </a:defRPr>
            </a:pPr>
            <a:r>
              <a:t>止盈：分批、移动止盈、条件变化。</a:t>
            </a:r>
          </a:p>
          <a:p>
            <a:pPr marL="180000" indent="-105000">
              <a:spcAft>
                <a:spcPts val="900"/>
              </a:spcAft>
              <a:defRPr sz="2100">
                <a:solidFill>
                  <a:srgbClr val="222F3C"/>
                </a:solidFill>
                <a:latin typeface="Microsoft YaHei"/>
              </a:defRPr>
            </a:pPr>
            <a:r>
              <a:t>没有退出规则，短线容易变被动长线。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2148840"/>
            <a:ext cx="3749039" cy="3566160"/>
          </a:xfrm>
          <a:prstGeom prst="roundRect">
            <a:avLst>
              <a:gd name="adj" fmla="val 6000"/>
            </a:avLst>
          </a:prstGeom>
          <a:solidFill>
            <a:srgbClr val="ECF4FA"/>
          </a:solidFill>
          <a:ln w="889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91856" y="2514600"/>
            <a:ext cx="315468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22F3C"/>
                </a:solidFill>
                <a:latin typeface="Microsoft YaHei"/>
              </a:rPr>
              <a:t>课堂笔记</a:t>
            </a:r>
          </a:p>
        </p:txBody>
      </p:sp>
      <p:sp>
        <p:nvSpPr>
          <p:cNvPr id="14" name="Oval 13"/>
          <p:cNvSpPr/>
          <p:nvPr/>
        </p:nvSpPr>
        <p:spPr>
          <a:xfrm>
            <a:off x="9006840" y="3127248"/>
            <a:ext cx="1143000" cy="1143000"/>
          </a:xfrm>
          <a:prstGeom prst="ellipse">
            <a:avLst/>
          </a:prstGeom>
          <a:solidFill>
            <a:srgbClr val="DA4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3447288"/>
            <a:ext cx="10058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记住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4124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复盘：用一张表记录交易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基础知识 · 简洁版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真实股票与行情图仅作教学样本，不构成投资建议。行情图来自公开历史数据，生成于 2026-06-13。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70432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 w="8890">
            <a:solidFill>
              <a:srgbClr val="C5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353312"/>
            <a:ext cx="10149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22F3C"/>
                </a:solidFill>
                <a:latin typeface="Microsoft YaHei"/>
              </a:rPr>
              <a:t>复盘不是写日记，是找出自己反复犯的错误。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234440" y="2148840"/>
          <a:ext cx="9738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768096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1C2D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怎么写</a:t>
                      </a:r>
                    </a:p>
                  </a:txBody>
                  <a:tcPr>
                    <a:solidFill>
                      <a:srgbClr val="1C2D3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3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买入理由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我为什么买？依据是什么？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3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风险计划</a:t>
                      </a:r>
                    </a:p>
                  </a:txBody>
                  <a:tcPr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止损在哪里？最多亏多少？</a:t>
                      </a:r>
                    </a:p>
                  </a:txBody>
                  <a:tcPr>
                    <a:solidFill>
                      <a:srgbClr val="EFF6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3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卖出理由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是按计划，还是被情绪推着走？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3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结果归因</a:t>
                      </a:r>
                    </a:p>
                  </a:txBody>
                  <a:tcPr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赚亏来自市场、个股，还是执行？</a:t>
                      </a:r>
                    </a:p>
                  </a:txBody>
                  <a:tcPr>
                    <a:solidFill>
                      <a:srgbClr val="EFF6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3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下次改进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>
                          <a:solidFill>
                            <a:srgbClr val="222F3C"/>
                          </a:solidFill>
                          <a:latin typeface="Microsoft YaHei"/>
                        </a:defRPr>
                      </a:pPr>
                      <a:r>
                        <a:t>下一笔交易具体改什么？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4124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新手常见错误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基础知识 · 简洁版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真实股票与行情图仅作教学样本，不构成投资建议。行情图来自公开历史数据，生成于 2026-06-13。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70432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 w="8890">
            <a:solidFill>
              <a:srgbClr val="C5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353312"/>
            <a:ext cx="10149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22F3C"/>
                </a:solidFill>
                <a:latin typeface="Microsoft YaHei"/>
              </a:rPr>
              <a:t>亏损很多时候不是看不懂图，而是没有计划。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148840"/>
            <a:ext cx="6537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78608"/>
            <a:ext cx="5897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2100">
                <a:solidFill>
                  <a:srgbClr val="222F3C"/>
                </a:solidFill>
                <a:latin typeface="Microsoft YaHei"/>
              </a:defRPr>
            </a:pPr>
            <a:r>
              <a:t>追涨杀跌。</a:t>
            </a:r>
          </a:p>
          <a:p>
            <a:pPr marL="180000" indent="-105000">
              <a:spcAft>
                <a:spcPts val="900"/>
              </a:spcAft>
              <a:defRPr sz="2100">
                <a:solidFill>
                  <a:srgbClr val="222F3C"/>
                </a:solidFill>
                <a:latin typeface="Microsoft YaHei"/>
              </a:defRPr>
            </a:pPr>
            <a:r>
              <a:t>只看K线，不看规则和公告。</a:t>
            </a:r>
          </a:p>
          <a:p>
            <a:pPr marL="180000" indent="-105000">
              <a:spcAft>
                <a:spcPts val="900"/>
              </a:spcAft>
              <a:defRPr sz="2100">
                <a:solidFill>
                  <a:srgbClr val="222F3C"/>
                </a:solidFill>
                <a:latin typeface="Microsoft YaHei"/>
              </a:defRPr>
            </a:pPr>
            <a:r>
              <a:t>不复盘，重复同一个错误。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2148840"/>
            <a:ext cx="3749039" cy="3566160"/>
          </a:xfrm>
          <a:prstGeom prst="roundRect">
            <a:avLst>
              <a:gd name="adj" fmla="val 6000"/>
            </a:avLst>
          </a:prstGeom>
          <a:solidFill>
            <a:srgbClr val="ECF4FA"/>
          </a:solidFill>
          <a:ln w="889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91856" y="2514600"/>
            <a:ext cx="315468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22F3C"/>
                </a:solidFill>
                <a:latin typeface="Microsoft YaHei"/>
              </a:rPr>
              <a:t>课堂笔记</a:t>
            </a:r>
          </a:p>
        </p:txBody>
      </p:sp>
      <p:sp>
        <p:nvSpPr>
          <p:cNvPr id="14" name="Oval 13"/>
          <p:cNvSpPr/>
          <p:nvPr/>
        </p:nvSpPr>
        <p:spPr>
          <a:xfrm>
            <a:off x="9006840" y="3127248"/>
            <a:ext cx="1143000" cy="1143000"/>
          </a:xfrm>
          <a:prstGeom prst="ellipse">
            <a:avLst/>
          </a:prstGeom>
          <a:solidFill>
            <a:srgbClr val="18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3447288"/>
            <a:ext cx="10058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记住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4124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最后记住这五句话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基础知识 · 简洁版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真实股票与行情图仅作教学样本，不构成投资建议。行情图来自公开历史数据，生成于 2026-06-13。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70432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 w="8890">
            <a:solidFill>
              <a:srgbClr val="C5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353312"/>
            <a:ext cx="10149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22F3C"/>
                </a:solidFill>
                <a:latin typeface="Microsoft YaHei"/>
              </a:rPr>
              <a:t>基础知识的目标，是让你少犯低级错。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103120"/>
            <a:ext cx="1010412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72768" y="2606040"/>
            <a:ext cx="91440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2000">
                <a:solidFill>
                  <a:srgbClr val="222F3C"/>
                </a:solidFill>
                <a:latin typeface="Microsoft YaHei"/>
              </a:defRPr>
            </a:pPr>
            <a:r>
              <a:t>先懂规则，再谈技术。</a:t>
            </a:r>
          </a:p>
          <a:p>
            <a:pPr marL="180000" indent="-105000">
              <a:spcAft>
                <a:spcPts val="900"/>
              </a:spcAft>
              <a:defRPr sz="2000">
                <a:solidFill>
                  <a:srgbClr val="222F3C"/>
                </a:solidFill>
                <a:latin typeface="Microsoft YaHei"/>
              </a:defRPr>
            </a:pPr>
            <a:r>
              <a:t>K线看位置，均线看趋势，成交量看参与度。</a:t>
            </a:r>
          </a:p>
          <a:p>
            <a:pPr marL="180000" indent="-105000">
              <a:spcAft>
                <a:spcPts val="900"/>
              </a:spcAft>
              <a:defRPr sz="2000">
                <a:solidFill>
                  <a:srgbClr val="222F3C"/>
                </a:solidFill>
                <a:latin typeface="Microsoft YaHei"/>
              </a:defRPr>
            </a:pPr>
            <a:r>
              <a:t>真实行情只提供证据，不提供确定答案。</a:t>
            </a:r>
          </a:p>
          <a:p>
            <a:pPr marL="180000" indent="-105000">
              <a:spcAft>
                <a:spcPts val="900"/>
              </a:spcAft>
              <a:defRPr sz="2000">
                <a:solidFill>
                  <a:srgbClr val="222F3C"/>
                </a:solidFill>
                <a:latin typeface="Microsoft YaHei"/>
              </a:defRPr>
            </a:pPr>
            <a:r>
              <a:t>下单前写计划，下单后做复盘。</a:t>
            </a:r>
          </a:p>
          <a:p>
            <a:pPr marL="180000" indent="-105000">
              <a:spcAft>
                <a:spcPts val="900"/>
              </a:spcAft>
              <a:defRPr sz="2000">
                <a:solidFill>
                  <a:srgbClr val="222F3C"/>
                </a:solidFill>
                <a:latin typeface="Microsoft YaHei"/>
              </a:defRPr>
            </a:pPr>
            <a:r>
              <a:t>任何案例都不构成投资建议。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